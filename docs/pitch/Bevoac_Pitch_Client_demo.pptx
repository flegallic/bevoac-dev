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400"/>
    <a:srgbClr val="FF7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49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37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dérivé de Pitch_client_v2.md, Pitch_partenaire_v2.md et Pitch_principal_v2.md fournis par l’utilisateur.
- Visuel d’illustration généré puis recadré pour cette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Argumentaire dérivé des pitchs v2 fournis par l’utilisateur.
- Visuel d’illustration généré puis recadré pour cette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dérivé des pitchs v2 fournis par l’utilisateur.
- Visuel d’illustration généré puis recadré pour cette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Capacités produit dérivées des pitchs v2 et du runbook utilisateur.
- Visuels d’illustration générés puis recadrés pour cette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 produit dérivée du runbook utilisateur aligné et des pitchs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Parcours d’onboarding et terminologie authorizedScopeId dérivés du runbook utilisateur P0 onboarding.
- Visuel d’illustration généré puis recadré pour cette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Positionnement sécurité et exemple d’usage dérivés des pitchs v2 et du runbook onboarding.
- Visuel d’illustration généré puis recadré pour cette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Cas d’usage et proposition de valeur dérivés des pitchs v2.
- Visuel d’illustration généré puis recadré pour cette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Conclusion construite à partir des pitchs v2 fournis par l’utilisateur.
- Visuel d’illustration généré puis recadré pour cette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4"/>
          </a:solidFill>
          <a:ln w="12700">
            <a:solidFill>
              <a:srgbClr val="0713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233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66928" y="182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BEVOAC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d’audit sécurité B2B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1078992"/>
            <a:ext cx="5852160" cy="1874520"/>
          </a:xfrm>
          <a:prstGeom prst="rect">
            <a:avLst/>
          </a:prstGeom>
          <a:noFill/>
          <a:ln/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</a:t>
            </a:r>
            <a:r>
              <a:rPr lang="en-US" sz="2550" b="1" dirty="0" err="1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approche</a:t>
            </a:r>
            <a:r>
              <a:rPr lang="en-US" sz="255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50" b="1" dirty="0" err="1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différente</a:t>
            </a:r>
            <a:r>
              <a:rPr lang="en-US" sz="255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:</a:t>
            </a:r>
          </a:p>
          <a:p>
            <a:pPr marL="0" indent="0">
              <a:buNone/>
            </a:pPr>
            <a:r>
              <a:rPr lang="en-US" sz="2550" b="1" dirty="0" err="1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Transformez</a:t>
            </a:r>
            <a:r>
              <a:rPr lang="en-US" sz="255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50" b="1" dirty="0" err="1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l’audit</a:t>
            </a:r>
            <a:r>
              <a:rPr lang="en-US" sz="2550" dirty="0"/>
              <a:t> </a:t>
            </a:r>
            <a:r>
              <a:rPr lang="en-US" sz="255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sécurité </a:t>
            </a:r>
            <a:r>
              <a:rPr lang="en-US" sz="2550" b="1" dirty="0" err="1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</a:t>
            </a:r>
            <a:r>
              <a:rPr lang="en-US" sz="255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550" b="1" dirty="0">
                <a:solidFill>
                  <a:srgbClr val="FF6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</a:t>
            </a:r>
            <a:r>
              <a:rPr lang="en-US" sz="2550" dirty="0">
                <a:solidFill>
                  <a:srgbClr val="FF6400"/>
                </a:solidFill>
              </a:rPr>
              <a:t> </a:t>
            </a:r>
            <a:r>
              <a:rPr lang="en-US" sz="2550" b="1" dirty="0">
                <a:solidFill>
                  <a:srgbClr val="FF6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continue, structuré</a:t>
            </a:r>
            <a:endParaRPr lang="en-US" sz="2550" dirty="0">
              <a:solidFill>
                <a:srgbClr val="FF6400"/>
              </a:solidFill>
            </a:endParaRPr>
          </a:p>
          <a:p>
            <a:pPr marL="0" indent="0">
              <a:buNone/>
            </a:pPr>
            <a:r>
              <a:rPr lang="en-US" sz="2550" b="1" dirty="0">
                <a:solidFill>
                  <a:srgbClr val="FF6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 exploitable.</a:t>
            </a:r>
            <a:endParaRPr lang="en-US" sz="2550" dirty="0">
              <a:solidFill>
                <a:srgbClr val="FF64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76656" y="3127248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Scannez. Contrôlez. Recontrôlez. Prouvez.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 : Web • Identités • Gouvernance • FinOps</a:t>
            </a:r>
            <a:endParaRPr lang="en-US" sz="1230" dirty="0"/>
          </a:p>
        </p:txBody>
      </p:sp>
      <p:sp>
        <p:nvSpPr>
          <p:cNvPr id="5" name="Shape 2"/>
          <p:cNvSpPr/>
          <p:nvPr/>
        </p:nvSpPr>
        <p:spPr>
          <a:xfrm>
            <a:off x="676656" y="4005072"/>
            <a:ext cx="109728" cy="109728"/>
          </a:xfrm>
          <a:prstGeom prst="rect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41248" y="39776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C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API-FIRST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121408" y="4005072"/>
            <a:ext cx="109728" cy="109728"/>
          </a:xfrm>
          <a:prstGeom prst="rect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2286000" y="39776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13632" y="4005072"/>
            <a:ext cx="109728" cy="109728"/>
          </a:xfrm>
          <a:prstGeom prst="rect">
            <a:avLst/>
          </a:prstGeom>
          <a:solidFill>
            <a:srgbClr val="3AD2A2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078224" y="39776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D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03520" y="4005072"/>
            <a:ext cx="109728" cy="109728"/>
          </a:xfrm>
          <a:prstGeom prst="rect">
            <a:avLst/>
          </a:prstGeom>
          <a:solidFill>
            <a:srgbClr val="78D9FF"/>
          </a:solidFill>
          <a:ln w="12700">
            <a:solidFill>
              <a:srgbClr val="78D9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468112" y="39776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8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EXPLOITABLE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6656" y="4919472"/>
            <a:ext cx="708485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488245" y="2416629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C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LE CLIENT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88245" y="2754957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seule API pour auditer, exploiter et prouver.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88245" y="372073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L’OFFRE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88245" y="415050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brique </a:t>
            </a:r>
            <a:r>
              <a:rPr lang="en-US" sz="14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prête</a:t>
            </a:r>
            <a:r>
              <a:rPr lang="en-US" sz="14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à </a:t>
            </a:r>
            <a:r>
              <a:rPr lang="en-US" sz="14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être</a:t>
            </a:r>
            <a:r>
              <a:rPr lang="en-US" sz="14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intégrer dans un </a:t>
            </a:r>
            <a:r>
              <a:rPr lang="en-US" sz="14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portail</a:t>
            </a:r>
            <a:r>
              <a:rPr lang="en-US" sz="14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</a:t>
            </a:r>
            <a:r>
              <a:rPr lang="en-US" sz="14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 service </a:t>
            </a:r>
            <a:r>
              <a:rPr lang="en-US" sz="14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managé</a:t>
            </a:r>
            <a:r>
              <a:rPr lang="en-US" sz="14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1A97612-0AEE-2697-75BC-1F1C1A524275}"/>
              </a:ext>
            </a:extLst>
          </p:cNvPr>
          <p:cNvSpPr txBox="1"/>
          <p:nvPr/>
        </p:nvSpPr>
        <p:spPr>
          <a:xfrm>
            <a:off x="482019" y="4851999"/>
            <a:ext cx="7814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  <a:latin typeface="+mj-lt"/>
              </a:rPr>
              <a:t>« </a:t>
            </a:r>
            <a:r>
              <a:rPr lang="fr-FR" sz="1600" b="1" dirty="0" err="1">
                <a:solidFill>
                  <a:schemeClr val="bg1"/>
                </a:solidFill>
                <a:latin typeface="+mj-lt"/>
              </a:rPr>
              <a:t>Bevoac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, c’est l’API qui permet de transformer des audits de sécurité ponctuels, manuels, inadaptés, et dispersés, en un service industrialisé, adapté, lisible, pilotable et exploitable à l’échelle d’une entreprise. »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problème n’est pas le manque </a:t>
            </a:r>
            <a:r>
              <a:rPr lang="en-US" sz="2400" b="1" dirty="0" err="1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d’outils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11978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r>
              <a:rPr lang="en-US" sz="1200" dirty="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c’est</a:t>
            </a:r>
            <a:r>
              <a:rPr lang="en-US" sz="12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l’absence d’un </a:t>
            </a:r>
            <a:r>
              <a:rPr lang="en-US" sz="1200" dirty="0">
                <a:solidFill>
                  <a:srgbClr val="FF6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d’audit continu </a:t>
            </a:r>
            <a:r>
              <a:rPr lang="en-US" sz="12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vraiment exploitable.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389017" y="2006455"/>
            <a:ext cx="109728" cy="109728"/>
          </a:xfrm>
          <a:prstGeom prst="rect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553609" y="1979023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LES CLIENTS SUBISSENT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425593" y="2472799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608473" y="2408791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audits ponctuels, manuels et relancés trop tard</a:t>
            </a:r>
          </a:p>
        </p:txBody>
      </p:sp>
      <p:sp>
        <p:nvSpPr>
          <p:cNvPr id="8" name="Shape 6"/>
          <p:cNvSpPr/>
          <p:nvPr/>
        </p:nvSpPr>
        <p:spPr>
          <a:xfrm>
            <a:off x="1425593" y="2948287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608473" y="2884279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contrôles dispersés entre outils, exports et actions humaines.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25593" y="3423775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608473" y="3359767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résultats difficiles à prioriser, à suivre et à prouver.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25593" y="3899263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608473" y="3835255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recontrôles coûteux après correction.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25593" y="4374751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608473" y="4310743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gouvernance sécurité qui manque de rythme et de lisibilité.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7057" y="5334871"/>
            <a:ext cx="5873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“Le coût caché, ce n’est pas seulement le scan. C’est tout ce qu’il faut mobiliser autour pour en faire un contrôle utile.”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75151" y="24505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C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CONSÉQUENCE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75151" y="2913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Trop de temps entre détection, compréhension, correction et preuve.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575151" y="38770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D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PRATIQUE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75151" y="43464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équipes techniques saturées et une valeur difficile à industrialiser.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Bevoac industrialise </a:t>
            </a:r>
            <a:r>
              <a:rPr lang="en-US" sz="2400" b="1" dirty="0" err="1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l’audit</a:t>
            </a: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sécurité.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11978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seule API pour auditer, exploiter, recontrôler et prouver.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992342" y="2071116"/>
            <a:ext cx="109728" cy="109728"/>
          </a:xfrm>
          <a:prstGeom prst="rect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156934" y="20436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C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BRIQUE OPÉRATIONNELLE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28918" y="2500884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211798" y="24368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Audits web sur l’exposition externe.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8918" y="2958084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211798" y="28940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Audits des </a:t>
            </a:r>
            <a:r>
              <a:rPr lang="en-US" sz="13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ressources</a:t>
            </a: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tags, </a:t>
            </a:r>
            <a:r>
              <a:rPr lang="en-US" sz="13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finops</a:t>
            </a: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3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28918" y="3415284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11798" y="33512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 </a:t>
            </a:r>
            <a:r>
              <a:rPr lang="en-US" sz="13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structurés</a:t>
            </a: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28918" y="3872484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211798" y="38084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 PDF lisibles et </a:t>
            </a:r>
            <a:r>
              <a:rPr lang="en-US" sz="13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partageables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28918" y="4329684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211798" y="42656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Historique et recontrôle après </a:t>
            </a:r>
            <a:r>
              <a:rPr lang="en-US" sz="1300" dirty="0" err="1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remédiation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28918" y="4786884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211798" y="47228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Intégration dans portails, workflows ou offres managées.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082936" y="555040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n’est pas un scan ponctuel. C’est un socle d’audit continu, traçable et exploitable dans la durée.</a:t>
            </a:r>
            <a:endParaRPr lang="en-US" sz="14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D0CB06A5-ACC4-64BD-E88A-7E3D204D9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399" y="1738324"/>
            <a:ext cx="4561115" cy="361909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le client obtient, immédiatement.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11978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couverture technique à la preuve de pilotage.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1530097" y="1955510"/>
            <a:ext cx="109728" cy="109728"/>
          </a:xfrm>
          <a:prstGeom prst="rect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94689" y="192807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C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66673" y="2357846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749553" y="229383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: DNS, TLS, headers, surface externe, nmap.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1566673" y="2769326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749553" y="270531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: storage, NSG, VMs, Key Vault, logs, DB.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1566673" y="3180806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749553" y="311679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Gouvernance, FinOps, Entra B2B, tags.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530097" y="3830030"/>
            <a:ext cx="109728" cy="109728"/>
          </a:xfrm>
          <a:prstGeom prst="rect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694689" y="380259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EXPLOITER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566673" y="4232366"/>
            <a:ext cx="100584" cy="100584"/>
          </a:xfrm>
          <a:prstGeom prst="ellipse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749553" y="416835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 JSON structurés et exploitables.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1566673" y="4643846"/>
            <a:ext cx="100584" cy="100584"/>
          </a:xfrm>
          <a:prstGeom prst="ellipse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749553" y="457983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Historique, comparaison, recontrôle.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1530097" y="5293070"/>
            <a:ext cx="109728" cy="109728"/>
          </a:xfrm>
          <a:prstGeom prst="rect">
            <a:avLst/>
          </a:prstGeom>
          <a:solidFill>
            <a:srgbClr val="3AD2A2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694689" y="526563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D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PROUVER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566673" y="5695406"/>
            <a:ext cx="100584" cy="100584"/>
          </a:xfrm>
          <a:prstGeom prst="ellipse">
            <a:avLst/>
          </a:prstGeom>
          <a:solidFill>
            <a:srgbClr val="3AD2A2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749553" y="563139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 PDF, traçabilité et lecture claire.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7059168" y="2266406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“output” </a:t>
            </a:r>
            <a:r>
              <a:rPr lang="en-US" sz="1400" dirty="0" err="1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conçu</a:t>
            </a:r>
            <a:r>
              <a:rPr lang="en-US" sz="14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pour être lues par des équipes techniques, partagées avec la gouvernance et réinjectées dans </a:t>
            </a:r>
            <a:r>
              <a:rPr lang="en-US" sz="1400" dirty="0" err="1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leurs</a:t>
            </a:r>
            <a:r>
              <a:rPr lang="en-US" sz="14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outils.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059168" y="3557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C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BREF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059168" y="4050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appel, un résultat, une preuve, puis un nouveau run au bon moment.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architecture pensée pour la production.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11978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API-first, asynchrone, traçable et conçue pour la montée en charge progressive.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2807208" y="2639133"/>
            <a:ext cx="347472" cy="164592"/>
          </a:xfrm>
          <a:prstGeom prst="chevron">
            <a:avLst/>
          </a:prstGeom>
          <a:solidFill>
            <a:srgbClr val="233B5E"/>
          </a:solidFill>
          <a:ln w="12700">
            <a:solidFill>
              <a:srgbClr val="233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62856" y="2639133"/>
            <a:ext cx="347472" cy="164592"/>
          </a:xfrm>
          <a:prstGeom prst="chevron">
            <a:avLst/>
          </a:prstGeom>
          <a:solidFill>
            <a:srgbClr val="233B5E"/>
          </a:solidFill>
          <a:ln w="12700">
            <a:solidFill>
              <a:srgbClr val="233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656832" y="2633472"/>
            <a:ext cx="347472" cy="164592"/>
          </a:xfrm>
          <a:prstGeom prst="chevron">
            <a:avLst/>
          </a:prstGeom>
          <a:solidFill>
            <a:srgbClr val="233B5E"/>
          </a:solidFill>
          <a:ln w="12700">
            <a:solidFill>
              <a:srgbClr val="233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67047" y="2633472"/>
            <a:ext cx="347472" cy="164592"/>
          </a:xfrm>
          <a:prstGeom prst="chevron">
            <a:avLst/>
          </a:prstGeom>
          <a:solidFill>
            <a:srgbClr val="233B5E"/>
          </a:solidFill>
          <a:ln w="12700">
            <a:solidFill>
              <a:srgbClr val="233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581912" y="2061972"/>
            <a:ext cx="347472" cy="347472"/>
          </a:xfrm>
          <a:prstGeom prst="ellipse">
            <a:avLst/>
          </a:prstGeom>
          <a:solidFill>
            <a:srgbClr val="132844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Portails / intégrations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932688" y="299923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/ JSON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3685032" y="2063823"/>
            <a:ext cx="347472" cy="347472"/>
          </a:xfrm>
          <a:prstGeom prst="ellipse">
            <a:avLst/>
          </a:prstGeom>
          <a:solidFill>
            <a:srgbClr val="8A5C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880360" y="251460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Bevoac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2898648" y="299923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• validation • orchestration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550408" y="2061972"/>
            <a:ext cx="347472" cy="347472"/>
          </a:xfrm>
          <a:prstGeom prst="ellipse">
            <a:avLst/>
          </a:prstGeom>
          <a:solidFill>
            <a:srgbClr val="132844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d’attente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4864608" y="299923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découplage asynchrone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530084" y="2061972"/>
            <a:ext cx="347472" cy="347472"/>
          </a:xfrm>
          <a:prstGeom prst="ellipse">
            <a:avLst/>
          </a:prstGeom>
          <a:solidFill>
            <a:srgbClr val="132844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12280" y="251460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830568" y="299923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exécution des contrôles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9496044" y="2059359"/>
            <a:ext cx="347472" cy="347472"/>
          </a:xfrm>
          <a:prstGeom prst="ellipse">
            <a:avLst/>
          </a:prstGeom>
          <a:solidFill>
            <a:srgbClr val="132844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778240" y="251460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 &amp; historique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8796528" y="299923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• PDF • billing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591056" y="4201668"/>
            <a:ext cx="109728" cy="109728"/>
          </a:xfrm>
          <a:prstGeom prst="rect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755648" y="41742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C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ASYNCHRONE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56432" y="4201668"/>
            <a:ext cx="109728" cy="109728"/>
          </a:xfrm>
          <a:prstGeom prst="rect">
            <a:avLst/>
          </a:prstGeom>
          <a:solidFill>
            <a:srgbClr val="3AD2A2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21024" y="41742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D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38928" y="4201668"/>
            <a:ext cx="109728" cy="109728"/>
          </a:xfrm>
          <a:prstGeom prst="rect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303520" y="41742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05472" y="4201668"/>
            <a:ext cx="109728" cy="109728"/>
          </a:xfrm>
          <a:prstGeom prst="rect">
            <a:avLst/>
          </a:prstGeom>
          <a:solidFill>
            <a:srgbClr val="78D9FF"/>
          </a:solidFill>
          <a:ln w="12700">
            <a:solidFill>
              <a:srgbClr val="78D9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370064" y="41742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8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942832" y="4201668"/>
            <a:ext cx="109728" cy="109728"/>
          </a:xfrm>
          <a:prstGeom prst="rect">
            <a:avLst/>
          </a:prstGeom>
          <a:solidFill>
            <a:srgbClr val="3AD2A2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9107424" y="41742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D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&amp; QUOTAS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9264" y="5074920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Concrètement : une API légère côté client, une orchestration découplée côté plateforme, puis un moteur de traitement spécialisé derrière. C’est ce qui rend l’usage B2B crédible, répétable et pilotable.</a:t>
            </a:r>
            <a:endParaRPr lang="en-US" sz="136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Onboarding Azure sécurisé, sans secret client à transmettre.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48002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Consentement administrateur, périmètre validé, scans autorisés par scope.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1695995" y="3062587"/>
            <a:ext cx="292608" cy="292608"/>
          </a:xfrm>
          <a:prstGeom prst="ellipse">
            <a:avLst/>
          </a:prstGeom>
          <a:solidFill>
            <a:srgbClr val="132844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467395" y="2440795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20507" y="3602083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création signée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3341915" y="3062587"/>
            <a:ext cx="292608" cy="292608"/>
          </a:xfrm>
          <a:prstGeom prst="ellipse">
            <a:avLst/>
          </a:prstGeom>
          <a:solidFill>
            <a:srgbClr val="132844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13315" y="2440795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Portail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66427" y="3602083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ouverture client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4987835" y="3062587"/>
            <a:ext cx="292608" cy="292608"/>
          </a:xfrm>
          <a:prstGeom prst="ellipse">
            <a:avLst/>
          </a:prstGeom>
          <a:solidFill>
            <a:srgbClr val="132844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35791" y="2442101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Consentement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12347" y="3602083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Microsoft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6633755" y="3062587"/>
            <a:ext cx="292608" cy="292608"/>
          </a:xfrm>
          <a:prstGeom prst="ellipse">
            <a:avLst/>
          </a:prstGeom>
          <a:solidFill>
            <a:srgbClr val="102239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5155" y="2440795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58267" y="3602083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du tenant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8279675" y="3062587"/>
            <a:ext cx="292608" cy="292608"/>
          </a:xfrm>
          <a:prstGeom prst="ellipse">
            <a:avLst/>
          </a:prstGeom>
          <a:solidFill>
            <a:srgbClr val="102239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051075" y="2440795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Reader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04187" y="3602083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subscriptions visibles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9925595" y="3062587"/>
            <a:ext cx="292608" cy="292608"/>
          </a:xfrm>
          <a:prstGeom prst="ellipse">
            <a:avLst/>
          </a:prstGeom>
          <a:solidFill>
            <a:srgbClr val="102239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505842" y="2440795"/>
            <a:ext cx="11560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authorizedScopeId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50107" y="3602083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périmètre public autorisé</a:t>
            </a:r>
            <a:endParaRPr lang="en-US" sz="890" dirty="0"/>
          </a:p>
        </p:txBody>
      </p:sp>
      <p:sp>
        <p:nvSpPr>
          <p:cNvPr id="28" name="Shape 25"/>
          <p:cNvSpPr/>
          <p:nvPr/>
        </p:nvSpPr>
        <p:spPr>
          <a:xfrm>
            <a:off x="1732137" y="4645152"/>
            <a:ext cx="109728" cy="109728"/>
          </a:xfrm>
          <a:prstGeom prst="rect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1896728" y="4617720"/>
            <a:ext cx="26156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C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 SECRET CLIENT À TRANSMETTRE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023977" y="4645152"/>
            <a:ext cx="109728" cy="109728"/>
          </a:xfrm>
          <a:prstGeom prst="rect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5188569" y="46177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CONSENTEMENT ADMIN MICROSOFT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407257" y="4645152"/>
            <a:ext cx="109728" cy="109728"/>
          </a:xfrm>
          <a:prstGeom prst="rect">
            <a:avLst/>
          </a:prstGeom>
          <a:solidFill>
            <a:srgbClr val="3AD2A2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8571849" y="46177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D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PÉRIMÈTRE LIÉ AU TENANT VIA authorizedScopeId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77824" y="5440680"/>
            <a:ext cx="10259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périmètre Azure n’est plus déduit d’un tenant libre fourni dans la requête. Il est validé, enregistré puis rattaché au tenant Bevoac avant le premier scan.</a:t>
            </a:r>
            <a:endParaRPr lang="en-US" sz="138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Sécurité, confiance et intégration simple.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11978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message crédible : maîtriser le périmètre, structurer les résultats, intégrer sans friction.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19328" y="2450592"/>
            <a:ext cx="109728" cy="109728"/>
          </a:xfrm>
          <a:prstGeom prst="rect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83920" y="24231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C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BEVOAC DÉFEND</a:t>
            </a:r>
          </a:p>
        </p:txBody>
      </p:sp>
      <p:sp>
        <p:nvSpPr>
          <p:cNvPr id="6" name="Shape 4"/>
          <p:cNvSpPr/>
          <p:nvPr/>
        </p:nvSpPr>
        <p:spPr>
          <a:xfrm>
            <a:off x="755904" y="2898648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38784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 secret client à transmettre pour l’onboarding.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755904" y="3319272"/>
            <a:ext cx="100584" cy="100584"/>
          </a:xfrm>
          <a:prstGeom prst="ellipse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38784" y="3255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Consentement administrateur Microsoft côté client.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755904" y="3739896"/>
            <a:ext cx="100584" cy="100584"/>
          </a:xfrm>
          <a:prstGeom prst="ellipse">
            <a:avLst/>
          </a:prstGeom>
          <a:solidFill>
            <a:srgbClr val="3AD2A2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38784" y="36758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Périmètre autorisé via authorizedScopeId.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755904" y="4160520"/>
            <a:ext cx="100584" cy="100584"/>
          </a:xfrm>
          <a:prstGeom prst="ellipse">
            <a:avLst/>
          </a:prstGeom>
          <a:solidFill>
            <a:srgbClr val="78D9FF"/>
          </a:solidFill>
          <a:ln w="12700">
            <a:solidFill>
              <a:srgbClr val="78D9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38784" y="4096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keys par tenant et traçabilité des runs.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755904" y="4581144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38784" y="4517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Historique, billing, quotas, PDF et auditabilité.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755904" y="5001768"/>
            <a:ext cx="100584" cy="100584"/>
          </a:xfrm>
          <a:prstGeom prst="ellipse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38784" y="4937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architecture conçue pour un usage SaaS B2B réel.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5102352" y="1993392"/>
            <a:ext cx="324612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/v1/scans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"cloudProvider"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"azure"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"scanProfile"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"infra"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"modules"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"storage"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"nsg"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"authorizedScopeId"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"azscope_123456"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"subscriptions"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"sub_001"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8607116" y="2994878"/>
            <a:ext cx="25146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ne reçoit pas seulement un scan. Il reçoit une </a:t>
            </a:r>
            <a:r>
              <a:rPr lang="en-US" sz="1400" dirty="0">
                <a:solidFill>
                  <a:srgbClr val="FF6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sortie exploitable </a:t>
            </a:r>
            <a:r>
              <a:rPr lang="en-US" sz="14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ses équipes, son portail ou son offre managée.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854440" y="4366042"/>
            <a:ext cx="109728" cy="109728"/>
          </a:xfrm>
          <a:prstGeom prst="rect">
            <a:avLst/>
          </a:prstGeom>
          <a:solidFill>
            <a:srgbClr val="3AD2A2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9106117" y="43525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D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• PDF • HISTORIQUE • API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Bevoac crée de la valeur vite.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11978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0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même brique pour des usages différents, avec un bénéfice immédiat côté client.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484197" y="2139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Entreprise / DSI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83632" y="2860765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166512" y="2796757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Piloter la posture dans la durée.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83632" y="3427693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66512" y="3363685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Structurer la lecture et la preuve.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77640" y="2139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RSSI / équipe sécurité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20024" y="2860765"/>
            <a:ext cx="100584" cy="100584"/>
          </a:xfrm>
          <a:prstGeom prst="ellipse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02904" y="2796757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Automatiser les contrôles récurrents.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20024" y="3427693"/>
            <a:ext cx="100584" cy="100584"/>
          </a:xfrm>
          <a:prstGeom prst="ellipse">
            <a:avLst/>
          </a:prstGeom>
          <a:solidFill>
            <a:srgbClr val="8A5CFF"/>
          </a:solidFill>
          <a:ln w="12700">
            <a:solidFill>
              <a:srgbClr val="8A5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302904" y="3363685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Accélérer le recontrôle après remédiation.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00403" y="2139696"/>
            <a:ext cx="3159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Intégrateur / MSSP </a:t>
            </a:r>
            <a:r>
              <a:rPr lang="en-US" sz="11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(Security Provider)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2176" y="2860765"/>
            <a:ext cx="100584" cy="100584"/>
          </a:xfrm>
          <a:prstGeom prst="ellipse">
            <a:avLst/>
          </a:prstGeom>
          <a:solidFill>
            <a:srgbClr val="3AD2A2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805056" y="2796757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Industrialiser une offre managée.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22176" y="3427693"/>
            <a:ext cx="100584" cy="100584"/>
          </a:xfrm>
          <a:prstGeom prst="ellipse">
            <a:avLst/>
          </a:prstGeom>
          <a:solidFill>
            <a:srgbClr val="3AD2A2"/>
          </a:solidFill>
          <a:ln w="12700">
            <a:solidFill>
              <a:srgbClr val="3AD2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805056" y="3363685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Intégrer Bevoac à un portail ou service existant.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40549" y="4221915"/>
            <a:ext cx="4710902" cy="1438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b="1" dirty="0" err="1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Moins</a:t>
            </a:r>
            <a:r>
              <a:rPr lang="en-US" sz="14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temps entre détection et action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Plus de </a:t>
            </a:r>
            <a:r>
              <a:rPr lang="en-US" sz="1400" b="1" dirty="0" err="1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visibilité</a:t>
            </a:r>
            <a:endParaRPr lang="en-US" sz="1400" b="1" dirty="0">
              <a:solidFill>
                <a:srgbClr val="F5F8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 preuve </a:t>
            </a:r>
            <a:r>
              <a:rPr lang="en-US" sz="1400" b="1" dirty="0" err="1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mieux</a:t>
            </a:r>
            <a:r>
              <a:rPr lang="en-US" sz="14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structure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 intégration simple dans les processus réels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52160"/>
          </a:xfrm>
          <a:prstGeom prst="rect">
            <a:avLst/>
          </a:prstGeom>
          <a:solidFill>
            <a:srgbClr val="2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8FC"/>
                </a:solidFill>
                <a:latin typeface="Aptos"/>
              </a:rPr>
              <a:t>Architecture technique : conçue pour être intégrable, traçable et exploitable.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1264" y="1476566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AAB8CC"/>
                </a:solidFill>
                <a:latin typeface="Aptos"/>
              </a:rPr>
              <a:t>API-first,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exécution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asynchrone</a:t>
            </a:r>
            <a:r>
              <a:rPr sz="1100" dirty="0">
                <a:solidFill>
                  <a:srgbClr val="AAB8CC"/>
                </a:solidFill>
                <a:latin typeface="Aptos"/>
              </a:rPr>
              <a:t>, onboarding Azure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sécurisé</a:t>
            </a:r>
            <a:r>
              <a:rPr sz="1100" dirty="0">
                <a:solidFill>
                  <a:srgbClr val="AAB8CC"/>
                </a:solidFill>
                <a:latin typeface="Aptos"/>
              </a:rPr>
              <a:t> et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résultats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immédiatement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consommables</a:t>
            </a:r>
            <a:r>
              <a:rPr sz="1100" dirty="0">
                <a:solidFill>
                  <a:srgbClr val="AAB8CC"/>
                </a:solidFill>
                <a:latin typeface="Aptos"/>
              </a:rPr>
              <a:t> par un client B2B.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1338" y="1974913"/>
            <a:ext cx="1600200" cy="310896"/>
          </a:xfrm>
          <a:prstGeom prst="roundRect">
            <a:avLst/>
          </a:prstGeom>
          <a:solidFill>
            <a:srgbClr val="8A5CFF"/>
          </a:solidFill>
          <a:ln>
            <a:solidFill>
              <a:srgbClr val="8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Frontend 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21578" y="1974913"/>
            <a:ext cx="1783080" cy="310896"/>
          </a:xfrm>
          <a:prstGeom prst="roundRect">
            <a:avLst/>
          </a:prstGeom>
          <a:solidFill>
            <a:srgbClr val="21C6FF"/>
          </a:solidFill>
          <a:ln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Microsoft admin consent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24698" y="1974913"/>
            <a:ext cx="1508760" cy="310896"/>
          </a:xfrm>
          <a:prstGeom prst="roundRect">
            <a:avLst/>
          </a:prstGeom>
          <a:solidFill>
            <a:srgbClr val="23BA5E"/>
          </a:solidFill>
          <a:ln>
            <a:solidFill>
              <a:srgbClr val="23B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API callback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53498" y="1974913"/>
            <a:ext cx="1691640" cy="310896"/>
          </a:xfrm>
          <a:prstGeom prst="roundRect">
            <a:avLst/>
          </a:prstGeom>
          <a:solidFill>
            <a:srgbClr val="8A5CFF"/>
          </a:solidFill>
          <a:ln>
            <a:solidFill>
              <a:srgbClr val="8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authorizedScopeId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9826" y="2130361"/>
            <a:ext cx="274320" cy="0"/>
          </a:xfrm>
          <a:prstGeom prst="line">
            <a:avLst/>
          </a:prstGeom>
          <a:ln w="22860">
            <a:solidFill>
              <a:srgbClr val="21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22946" y="2130361"/>
            <a:ext cx="274320" cy="0"/>
          </a:xfrm>
          <a:prstGeom prst="line">
            <a:avLst/>
          </a:prstGeom>
          <a:ln w="22860">
            <a:solidFill>
              <a:srgbClr val="21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51746" y="2130361"/>
            <a:ext cx="274320" cy="0"/>
          </a:xfrm>
          <a:prstGeom prst="line">
            <a:avLst/>
          </a:prstGeom>
          <a:ln w="22860">
            <a:solidFill>
              <a:srgbClr val="21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0684" y="2909587"/>
            <a:ext cx="1554480" cy="1005840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Clients / SI / portail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Consommation via REST JSON
API key par tenant</a:t>
            </a:r>
          </a:p>
        </p:txBody>
      </p:sp>
      <p:sp>
        <p:nvSpPr>
          <p:cNvPr id="14" name="Oval 13"/>
          <p:cNvSpPr/>
          <p:nvPr/>
        </p:nvSpPr>
        <p:spPr>
          <a:xfrm>
            <a:off x="1046988" y="3046747"/>
            <a:ext cx="146304" cy="146304"/>
          </a:xfrm>
          <a:prstGeom prst="ellipse">
            <a:avLst/>
          </a:prstGeom>
          <a:solidFill>
            <a:srgbClr val="2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29484" y="2754139"/>
            <a:ext cx="1828800" cy="1325880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8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API Bevoac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Fastify /v1
auth · validation · billing · PDF
création des scans + onboarding sécurisé</a:t>
            </a:r>
          </a:p>
        </p:txBody>
      </p:sp>
      <p:sp>
        <p:nvSpPr>
          <p:cNvPr id="16" name="Oval 15"/>
          <p:cNvSpPr/>
          <p:nvPr/>
        </p:nvSpPr>
        <p:spPr>
          <a:xfrm>
            <a:off x="2875788" y="2891299"/>
            <a:ext cx="146304" cy="146304"/>
          </a:xfrm>
          <a:prstGeom prst="ellipse">
            <a:avLst/>
          </a:prstGeom>
          <a:solidFill>
            <a:srgbClr val="8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832604" y="2909587"/>
            <a:ext cx="1554480" cy="1005840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23B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Service Bus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Découplage asynchrone
scan-jobs</a:t>
            </a:r>
          </a:p>
        </p:txBody>
      </p:sp>
      <p:sp>
        <p:nvSpPr>
          <p:cNvPr id="18" name="Oval 17"/>
          <p:cNvSpPr/>
          <p:nvPr/>
        </p:nvSpPr>
        <p:spPr>
          <a:xfrm>
            <a:off x="4978908" y="3046747"/>
            <a:ext cx="146304" cy="146304"/>
          </a:xfrm>
          <a:prstGeom prst="ellipse">
            <a:avLst/>
          </a:prstGeom>
          <a:solidFill>
            <a:srgbClr val="23B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61404" y="2754139"/>
            <a:ext cx="1828800" cy="1325880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Workers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Contrôles web / Azure / Entra
KEDA · scale-to-zero</a:t>
            </a:r>
          </a:p>
        </p:txBody>
      </p:sp>
      <p:sp>
        <p:nvSpPr>
          <p:cNvPr id="20" name="Oval 19"/>
          <p:cNvSpPr/>
          <p:nvPr/>
        </p:nvSpPr>
        <p:spPr>
          <a:xfrm>
            <a:off x="6807708" y="2891299"/>
            <a:ext cx="146304" cy="146304"/>
          </a:xfrm>
          <a:prstGeom prst="ellipse">
            <a:avLst/>
          </a:prstGeom>
          <a:solidFill>
            <a:srgbClr val="2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2455164" y="3412507"/>
            <a:ext cx="274320" cy="0"/>
          </a:xfrm>
          <a:prstGeom prst="line">
            <a:avLst/>
          </a:prstGeom>
          <a:ln w="27940">
            <a:solidFill>
              <a:srgbClr val="21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58284" y="3412507"/>
            <a:ext cx="274320" cy="0"/>
          </a:xfrm>
          <a:prstGeom prst="line">
            <a:avLst/>
          </a:prstGeom>
          <a:ln w="27940">
            <a:solidFill>
              <a:srgbClr val="21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87084" y="3412507"/>
            <a:ext cx="274320" cy="0"/>
          </a:xfrm>
          <a:prstGeom prst="line">
            <a:avLst/>
          </a:prstGeom>
          <a:ln w="27940">
            <a:solidFill>
              <a:srgbClr val="21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29484" y="4308619"/>
            <a:ext cx="1828800" cy="987552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23B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PostgreSQL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tenants · api_keys · scans
billing · snapshots · scopes autorisés</a:t>
            </a:r>
          </a:p>
        </p:txBody>
      </p:sp>
      <p:sp>
        <p:nvSpPr>
          <p:cNvPr id="25" name="Oval 24"/>
          <p:cNvSpPr/>
          <p:nvPr/>
        </p:nvSpPr>
        <p:spPr>
          <a:xfrm>
            <a:off x="2875788" y="4445779"/>
            <a:ext cx="146304" cy="146304"/>
          </a:xfrm>
          <a:prstGeom prst="ellipse">
            <a:avLst/>
          </a:prstGeom>
          <a:solidFill>
            <a:srgbClr val="23B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32604" y="4308619"/>
            <a:ext cx="1554480" cy="987552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8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Key Vault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secrets d’exécution
et configuration sensible</a:t>
            </a:r>
          </a:p>
        </p:txBody>
      </p:sp>
      <p:sp>
        <p:nvSpPr>
          <p:cNvPr id="27" name="Oval 26"/>
          <p:cNvSpPr/>
          <p:nvPr/>
        </p:nvSpPr>
        <p:spPr>
          <a:xfrm>
            <a:off x="4978908" y="4445779"/>
            <a:ext cx="146304" cy="146304"/>
          </a:xfrm>
          <a:prstGeom prst="ellipse">
            <a:avLst/>
          </a:prstGeom>
          <a:solidFill>
            <a:srgbClr val="8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661404" y="4308619"/>
            <a:ext cx="1828800" cy="987552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23B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Périmètres audités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Web externe
Azure subscriptions
Entra ID</a:t>
            </a:r>
          </a:p>
        </p:txBody>
      </p:sp>
      <p:sp>
        <p:nvSpPr>
          <p:cNvPr id="29" name="Oval 28"/>
          <p:cNvSpPr/>
          <p:nvPr/>
        </p:nvSpPr>
        <p:spPr>
          <a:xfrm>
            <a:off x="6807708" y="4445779"/>
            <a:ext cx="146304" cy="146304"/>
          </a:xfrm>
          <a:prstGeom prst="ellipse">
            <a:avLst/>
          </a:prstGeom>
          <a:solidFill>
            <a:srgbClr val="23B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3643884" y="4080019"/>
            <a:ext cx="0" cy="228600"/>
          </a:xfrm>
          <a:prstGeom prst="line">
            <a:avLst/>
          </a:prstGeom>
          <a:ln w="20320">
            <a:solidFill>
              <a:srgbClr val="707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09844" y="4080019"/>
            <a:ext cx="0" cy="228600"/>
          </a:xfrm>
          <a:prstGeom prst="line">
            <a:avLst/>
          </a:prstGeom>
          <a:ln w="20320">
            <a:solidFill>
              <a:srgbClr val="707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75804" y="4080019"/>
            <a:ext cx="0" cy="228600"/>
          </a:xfrm>
          <a:prstGeom prst="line">
            <a:avLst/>
          </a:prstGeom>
          <a:ln w="20320">
            <a:solidFill>
              <a:srgbClr val="707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00904" y="1796606"/>
            <a:ext cx="1965960" cy="3426141"/>
          </a:xfrm>
          <a:prstGeom prst="roundRect">
            <a:avLst/>
          </a:prstGeom>
          <a:solidFill>
            <a:srgbClr val="0F1C34"/>
          </a:solidFill>
          <a:ln>
            <a:solidFill>
              <a:srgbClr val="2E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>
              <a:spcAft>
                <a:spcPts val="300"/>
              </a:spcAft>
            </a:pPr>
            <a:r>
              <a:rPr sz="1200" b="1" dirty="0" err="1">
                <a:solidFill>
                  <a:srgbClr val="F5F8FC"/>
                </a:solidFill>
                <a:latin typeface="Aptos"/>
              </a:rPr>
              <a:t>Conçu</a:t>
            </a:r>
            <a:r>
              <a:rPr sz="1200" b="1" dirty="0">
                <a:solidFill>
                  <a:srgbClr val="F5F8FC"/>
                </a:solidFill>
                <a:latin typeface="Aptos"/>
              </a:rPr>
              <a:t> pour la prod</a:t>
            </a:r>
          </a:p>
          <a:p>
            <a:pPr>
              <a:spcAft>
                <a:spcPts val="600"/>
              </a:spcAft>
            </a:pPr>
            <a:r>
              <a:rPr sz="1050" dirty="0">
                <a:solidFill>
                  <a:srgbClr val="AAB8CC"/>
                </a:solidFill>
                <a:latin typeface="Aptos"/>
              </a:rPr>
              <a:t>API-first,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exécution</a:t>
            </a:r>
            <a:r>
              <a:rPr sz="1050" dirty="0">
                <a:solidFill>
                  <a:srgbClr val="AAB8CC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asynchrone</a:t>
            </a:r>
            <a:r>
              <a:rPr sz="1050" dirty="0">
                <a:solidFill>
                  <a:srgbClr val="AAB8CC"/>
                </a:solidFill>
                <a:latin typeface="Aptos"/>
              </a:rPr>
              <a:t>, worker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découplé</a:t>
            </a:r>
            <a:r>
              <a:rPr sz="1050" dirty="0">
                <a:solidFill>
                  <a:srgbClr val="AAB8CC"/>
                </a:solidFill>
                <a:latin typeface="Aptos"/>
              </a:rPr>
              <a:t>, montée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en</a:t>
            </a:r>
            <a:r>
              <a:rPr sz="1050" dirty="0">
                <a:solidFill>
                  <a:srgbClr val="AAB8CC"/>
                </a:solidFill>
                <a:latin typeface="Aptos"/>
              </a:rPr>
              <a:t> charge progressive.</a:t>
            </a:r>
          </a:p>
          <a:p>
            <a:pPr>
              <a:spcAft>
                <a:spcPts val="300"/>
              </a:spcAft>
            </a:pPr>
            <a:r>
              <a:rPr sz="1200" b="1" dirty="0" err="1">
                <a:solidFill>
                  <a:srgbClr val="F5F8FC"/>
                </a:solidFill>
                <a:latin typeface="Aptos"/>
              </a:rPr>
              <a:t>Conçu</a:t>
            </a:r>
            <a:r>
              <a:rPr sz="1200" b="1" dirty="0">
                <a:solidFill>
                  <a:srgbClr val="F5F8FC"/>
                </a:solidFill>
                <a:latin typeface="Aptos"/>
              </a:rPr>
              <a:t> pour le client</a:t>
            </a:r>
          </a:p>
          <a:p>
            <a:pPr>
              <a:spcAft>
                <a:spcPts val="600"/>
              </a:spcAft>
            </a:pPr>
            <a:r>
              <a:rPr sz="1050" dirty="0" err="1">
                <a:solidFill>
                  <a:srgbClr val="AAB8CC"/>
                </a:solidFill>
                <a:latin typeface="Aptos"/>
              </a:rPr>
              <a:t>Résultats</a:t>
            </a:r>
            <a:r>
              <a:rPr sz="1050" dirty="0">
                <a:solidFill>
                  <a:srgbClr val="AAB8CC"/>
                </a:solidFill>
                <a:latin typeface="Aptos"/>
              </a:rPr>
              <a:t> JSON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structurés</a:t>
            </a:r>
            <a:r>
              <a:rPr sz="1050" dirty="0">
                <a:solidFill>
                  <a:srgbClr val="AAB8CC"/>
                </a:solidFill>
                <a:latin typeface="Aptos"/>
              </a:rPr>
              <a:t>, PDF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exécutif</a:t>
            </a:r>
            <a:r>
              <a:rPr sz="1050" dirty="0">
                <a:solidFill>
                  <a:srgbClr val="AAB8CC"/>
                </a:solidFill>
                <a:latin typeface="Aptos"/>
              </a:rPr>
              <a:t>,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historique</a:t>
            </a:r>
            <a:r>
              <a:rPr sz="1050" dirty="0">
                <a:solidFill>
                  <a:srgbClr val="AAB8CC"/>
                </a:solidFill>
                <a:latin typeface="Aptos"/>
              </a:rPr>
              <a:t>, relance après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remédiation</a:t>
            </a:r>
            <a:r>
              <a:rPr sz="1050" dirty="0">
                <a:solidFill>
                  <a:srgbClr val="AAB8CC"/>
                </a:solidFill>
                <a:latin typeface="Apto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200" b="1" dirty="0" err="1">
                <a:solidFill>
                  <a:srgbClr val="F5F8FC"/>
                </a:solidFill>
                <a:latin typeface="Aptos"/>
              </a:rPr>
              <a:t>Conçu</a:t>
            </a:r>
            <a:r>
              <a:rPr sz="1200" b="1" dirty="0">
                <a:solidFill>
                  <a:srgbClr val="F5F8FC"/>
                </a:solidFill>
                <a:latin typeface="Aptos"/>
              </a:rPr>
              <a:t> pour le </a:t>
            </a:r>
            <a:r>
              <a:rPr sz="1200" b="1" dirty="0" err="1">
                <a:solidFill>
                  <a:srgbClr val="F5F8FC"/>
                </a:solidFill>
                <a:latin typeface="Aptos"/>
              </a:rPr>
              <a:t>contrôle</a:t>
            </a:r>
            <a:endParaRPr sz="1200" b="1" dirty="0">
              <a:solidFill>
                <a:srgbClr val="F5F8FC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sz="1050" dirty="0">
                <a:solidFill>
                  <a:srgbClr val="AAB8CC"/>
                </a:solidFill>
                <a:latin typeface="Aptos"/>
              </a:rPr>
              <a:t>Onboarding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sécurisé</a:t>
            </a:r>
            <a:r>
              <a:rPr sz="1050" dirty="0">
                <a:solidFill>
                  <a:srgbClr val="AAB8CC"/>
                </a:solidFill>
                <a:latin typeface="Aptos"/>
              </a:rPr>
              <a:t>,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consentement</a:t>
            </a:r>
            <a:r>
              <a:rPr sz="1050" dirty="0">
                <a:solidFill>
                  <a:srgbClr val="AAB8CC"/>
                </a:solidFill>
                <a:latin typeface="Aptos"/>
              </a:rPr>
              <a:t> admin, scope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autorisé</a:t>
            </a:r>
            <a:r>
              <a:rPr sz="1050" dirty="0">
                <a:solidFill>
                  <a:srgbClr val="AAB8CC"/>
                </a:solidFill>
                <a:latin typeface="Aptos"/>
              </a:rPr>
              <a:t> et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périmètre</a:t>
            </a:r>
            <a:r>
              <a:rPr sz="1050" dirty="0">
                <a:solidFill>
                  <a:srgbClr val="AAB8CC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AAB8CC"/>
                </a:solidFill>
                <a:latin typeface="Aptos"/>
              </a:rPr>
              <a:t>vérifiable</a:t>
            </a:r>
            <a:r>
              <a:rPr sz="1050" dirty="0">
                <a:solidFill>
                  <a:srgbClr val="AAB8CC"/>
                </a:solidFill>
                <a:latin typeface="Aptos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" y="5629927"/>
            <a:ext cx="845253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300" b="1" dirty="0">
                <a:solidFill>
                  <a:srgbClr val="F5F8FC"/>
                </a:solidFill>
                <a:latin typeface="Aptos"/>
              </a:rPr>
              <a:t>Que vend techniquement </a:t>
            </a:r>
            <a:r>
              <a:rPr sz="1300" b="1" dirty="0" err="1">
                <a:solidFill>
                  <a:srgbClr val="F5F8FC"/>
                </a:solidFill>
                <a:latin typeface="Aptos"/>
              </a:rPr>
              <a:t>Bevoac</a:t>
            </a:r>
            <a:r>
              <a:rPr sz="1300" b="1" dirty="0">
                <a:solidFill>
                  <a:srgbClr val="F5F8FC"/>
                </a:solidFill>
                <a:latin typeface="Aptos"/>
              </a:rPr>
              <a:t> </a:t>
            </a:r>
            <a:r>
              <a:rPr lang="fr-FR" sz="1300" b="1" dirty="0">
                <a:solidFill>
                  <a:srgbClr val="F5F8FC"/>
                </a:solidFill>
                <a:latin typeface="Aptos"/>
              </a:rPr>
              <a:t>?</a:t>
            </a:r>
            <a:r>
              <a:rPr sz="1300" b="1" dirty="0">
                <a:solidFill>
                  <a:srgbClr val="F5F8FC"/>
                </a:solidFill>
                <a:latin typeface="Aptos"/>
              </a:rPr>
              <a:t> </a:t>
            </a:r>
            <a:endParaRPr lang="fr-FR" sz="1300" b="1" dirty="0">
              <a:solidFill>
                <a:srgbClr val="F5F8FC"/>
              </a:solidFill>
              <a:latin typeface="Aptos"/>
            </a:endParaRPr>
          </a:p>
          <a:p>
            <a:r>
              <a:rPr lang="fr-FR" sz="1300" b="1" dirty="0">
                <a:solidFill>
                  <a:srgbClr val="FF6400"/>
                </a:solidFill>
                <a:latin typeface="Aptos"/>
              </a:rPr>
              <a:t>U</a:t>
            </a:r>
            <a:r>
              <a:rPr sz="1300" b="1" dirty="0">
                <a:solidFill>
                  <a:srgbClr val="FF6400"/>
                </a:solidFill>
                <a:latin typeface="Aptos"/>
              </a:rPr>
              <a:t>n </a:t>
            </a:r>
            <a:r>
              <a:rPr sz="1300" b="1" dirty="0" err="1">
                <a:solidFill>
                  <a:srgbClr val="FF6400"/>
                </a:solidFill>
                <a:latin typeface="Aptos"/>
              </a:rPr>
              <a:t>moteur</a:t>
            </a:r>
            <a:r>
              <a:rPr sz="1300" b="1" dirty="0">
                <a:solidFill>
                  <a:srgbClr val="FF6400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FF6400"/>
                </a:solidFill>
                <a:latin typeface="Aptos"/>
              </a:rPr>
              <a:t>d’audit</a:t>
            </a:r>
            <a:r>
              <a:rPr sz="1300" b="1" dirty="0">
                <a:solidFill>
                  <a:srgbClr val="FF6400"/>
                </a:solidFill>
                <a:latin typeface="Aptos"/>
              </a:rPr>
              <a:t> API capable de connecter, </a:t>
            </a:r>
            <a:r>
              <a:rPr sz="1300" b="1" dirty="0" err="1">
                <a:solidFill>
                  <a:srgbClr val="FF6400"/>
                </a:solidFill>
                <a:latin typeface="Aptos"/>
              </a:rPr>
              <a:t>contrôler</a:t>
            </a:r>
            <a:r>
              <a:rPr sz="1300" b="1" dirty="0">
                <a:solidFill>
                  <a:srgbClr val="FF6400"/>
                </a:solidFill>
                <a:latin typeface="Aptos"/>
              </a:rPr>
              <a:t>, </a:t>
            </a:r>
            <a:r>
              <a:rPr sz="1300" b="1" dirty="0" err="1">
                <a:solidFill>
                  <a:srgbClr val="FF6400"/>
                </a:solidFill>
                <a:latin typeface="Aptos"/>
              </a:rPr>
              <a:t>historiser</a:t>
            </a:r>
            <a:r>
              <a:rPr sz="1300" b="1" dirty="0">
                <a:solidFill>
                  <a:srgbClr val="FF6400"/>
                </a:solidFill>
                <a:latin typeface="Aptos"/>
              </a:rPr>
              <a:t>, </a:t>
            </a:r>
            <a:r>
              <a:rPr sz="1300" b="1" dirty="0" err="1">
                <a:solidFill>
                  <a:srgbClr val="FF6400"/>
                </a:solidFill>
                <a:latin typeface="Aptos"/>
              </a:rPr>
              <a:t>facturer</a:t>
            </a:r>
            <a:r>
              <a:rPr sz="1300" b="1" dirty="0">
                <a:solidFill>
                  <a:srgbClr val="FF6400"/>
                </a:solidFill>
                <a:latin typeface="Aptos"/>
              </a:rPr>
              <a:t> et </a:t>
            </a:r>
            <a:r>
              <a:rPr sz="1300" b="1" dirty="0" err="1">
                <a:solidFill>
                  <a:srgbClr val="FF6400"/>
                </a:solidFill>
                <a:latin typeface="Aptos"/>
              </a:rPr>
              <a:t>recontrôler</a:t>
            </a:r>
            <a:r>
              <a:rPr sz="1300" b="1" dirty="0">
                <a:solidFill>
                  <a:srgbClr val="FF6400"/>
                </a:solidFill>
                <a:latin typeface="Aptos"/>
              </a:rPr>
              <a:t> dans un </a:t>
            </a:r>
            <a:r>
              <a:rPr sz="1300" b="1" dirty="0" err="1">
                <a:solidFill>
                  <a:srgbClr val="FF6400"/>
                </a:solidFill>
                <a:latin typeface="Aptos"/>
              </a:rPr>
              <a:t>même</a:t>
            </a:r>
            <a:r>
              <a:rPr sz="1300" b="1" dirty="0">
                <a:solidFill>
                  <a:srgbClr val="FF6400"/>
                </a:solidFill>
                <a:latin typeface="Aptos"/>
              </a:rPr>
              <a:t> cadre </a:t>
            </a:r>
            <a:r>
              <a:rPr sz="1300" b="1" dirty="0" err="1">
                <a:solidFill>
                  <a:srgbClr val="FF6400"/>
                </a:solidFill>
                <a:latin typeface="Aptos"/>
              </a:rPr>
              <a:t>opérationnel</a:t>
            </a:r>
            <a:r>
              <a:rPr sz="1300" b="1" dirty="0">
                <a:solidFill>
                  <a:srgbClr val="FF6400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52160"/>
          </a:xfrm>
          <a:prstGeom prst="rect">
            <a:avLst/>
          </a:prstGeom>
          <a:solidFill>
            <a:srgbClr val="2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8FC"/>
                </a:solidFill>
                <a:latin typeface="Aptos"/>
              </a:rPr>
              <a:t>Positionnement concurrentiel : où Bevoac gagne vite.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051560"/>
            <a:ext cx="9326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AAB8CC"/>
                </a:solidFill>
                <a:latin typeface="Aptos"/>
              </a:rPr>
              <a:t>La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comparaison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pertinente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n’est</a:t>
            </a:r>
            <a:r>
              <a:rPr sz="1100" dirty="0">
                <a:solidFill>
                  <a:srgbClr val="AAB8CC"/>
                </a:solidFill>
                <a:latin typeface="Aptos"/>
              </a:rPr>
              <a:t> pas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seulement</a:t>
            </a:r>
            <a:r>
              <a:rPr sz="1100" dirty="0">
                <a:solidFill>
                  <a:srgbClr val="AAB8CC"/>
                </a:solidFill>
                <a:latin typeface="Aptos"/>
              </a:rPr>
              <a:t> “qui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scanne</a:t>
            </a:r>
            <a:r>
              <a:rPr sz="1100" dirty="0">
                <a:solidFill>
                  <a:srgbClr val="AAB8CC"/>
                </a:solidFill>
                <a:latin typeface="Aptos"/>
              </a:rPr>
              <a:t> ?”,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mais</a:t>
            </a:r>
            <a:r>
              <a:rPr sz="1100" dirty="0">
                <a:solidFill>
                  <a:srgbClr val="AAB8CC"/>
                </a:solidFill>
                <a:latin typeface="Aptos"/>
              </a:rPr>
              <a:t> “qui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s’intègre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simplement</a:t>
            </a:r>
            <a:r>
              <a:rPr sz="1100" dirty="0">
                <a:solidFill>
                  <a:srgbClr val="AAB8CC"/>
                </a:solidFill>
                <a:latin typeface="Aptos"/>
              </a:rPr>
              <a:t>, se vend bien et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reste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lisible</a:t>
            </a:r>
            <a:r>
              <a:rPr sz="1100" dirty="0">
                <a:solidFill>
                  <a:srgbClr val="AAB8CC"/>
                </a:solidFill>
                <a:latin typeface="Aptos"/>
              </a:rPr>
              <a:t> pour un client PME/ETI</a:t>
            </a:r>
            <a:r>
              <a:rPr lang="fr-FR" sz="1100" dirty="0">
                <a:solidFill>
                  <a:srgbClr val="AAB8CC"/>
                </a:solidFill>
                <a:latin typeface="Aptos"/>
              </a:rPr>
              <a:t>/Startup, petite équipe d’ingénierie</a:t>
            </a:r>
            <a:endParaRPr sz="1100" dirty="0">
              <a:solidFill>
                <a:srgbClr val="AAB8C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246120" cy="438912"/>
          </a:xfrm>
          <a:prstGeom prst="roundRect">
            <a:avLst/>
          </a:prstGeom>
          <a:solidFill>
            <a:srgbClr val="0F1C34"/>
          </a:solidFill>
          <a:ln>
            <a:solidFill>
              <a:srgbClr val="2E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Critere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1600200"/>
            <a:ext cx="1920240" cy="438912"/>
          </a:xfrm>
          <a:prstGeom prst="roundRect">
            <a:avLst/>
          </a:prstGeom>
          <a:solidFill>
            <a:srgbClr val="0F1C34"/>
          </a:solidFill>
          <a:ln>
            <a:solidFill>
              <a:srgbClr val="2E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Wiz / Orca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0176" y="1600200"/>
            <a:ext cx="1874519" cy="438912"/>
          </a:xfrm>
          <a:prstGeom prst="roundRect">
            <a:avLst/>
          </a:prstGeom>
          <a:solidFill>
            <a:srgbClr val="0F1C34"/>
          </a:solidFill>
          <a:ln>
            <a:solidFill>
              <a:srgbClr val="2E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Microsoft / 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72983" y="1600200"/>
            <a:ext cx="2880360" cy="438912"/>
          </a:xfrm>
          <a:prstGeom prst="roundRect">
            <a:avLst/>
          </a:prstGeom>
          <a:solidFill>
            <a:srgbClr val="8A5CFF"/>
          </a:solidFill>
          <a:ln>
            <a:solidFill>
              <a:srgbClr val="2E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Bevoac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93976"/>
            <a:ext cx="324612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30">
                <a:solidFill>
                  <a:srgbClr val="F5F8FC"/>
                </a:solidFill>
                <a:latin typeface="Aptos"/>
              </a:rPr>
              <a:t>Multi-cloud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648" y="2093976"/>
            <a:ext cx="192024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 dirty="0">
                <a:solidFill>
                  <a:srgbClr val="23BA5E"/>
                </a:solidFill>
                <a:latin typeface="Aptos"/>
              </a:rPr>
              <a:t>Oui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2093976"/>
            <a:ext cx="1874519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 dirty="0">
                <a:solidFill>
                  <a:srgbClr val="23BA5E"/>
                </a:solidFill>
                <a:latin typeface="Aptos"/>
              </a:rPr>
              <a:t>Oui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2983" y="2093976"/>
            <a:ext cx="2880360" cy="384048"/>
          </a:xfrm>
          <a:prstGeom prst="roundRect">
            <a:avLst/>
          </a:prstGeom>
          <a:solidFill>
            <a:srgbClr val="12213C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960" b="1" dirty="0" err="1">
                <a:solidFill>
                  <a:srgbClr val="F5F8FC"/>
                </a:solidFill>
                <a:latin typeface="Aptos"/>
              </a:rPr>
              <a:t>Partiel</a:t>
            </a:r>
            <a:r>
              <a:rPr sz="960" b="1" dirty="0">
                <a:solidFill>
                  <a:srgbClr val="F5F8FC"/>
                </a:solidFill>
                <a:latin typeface="Aptos"/>
              </a:rPr>
              <a:t> </a:t>
            </a:r>
            <a:r>
              <a:rPr lang="fr-FR" sz="960" b="1" dirty="0">
                <a:solidFill>
                  <a:srgbClr val="F5F8FC"/>
                </a:solidFill>
                <a:latin typeface="Aptos"/>
              </a:rPr>
              <a:t>(</a:t>
            </a:r>
            <a:r>
              <a:rPr sz="960" b="1" dirty="0" err="1">
                <a:solidFill>
                  <a:srgbClr val="F5F8FC"/>
                </a:solidFill>
                <a:latin typeface="Aptos"/>
              </a:rPr>
              <a:t>trajectoire</a:t>
            </a:r>
            <a:r>
              <a:rPr sz="960" b="1" dirty="0">
                <a:solidFill>
                  <a:srgbClr val="F5F8FC"/>
                </a:solidFill>
                <a:latin typeface="Aptos"/>
              </a:rPr>
              <a:t> multi-cloud</a:t>
            </a:r>
            <a:r>
              <a:rPr lang="fr-FR" sz="960" b="1" dirty="0">
                <a:solidFill>
                  <a:srgbClr val="F5F8FC"/>
                </a:solidFill>
                <a:latin typeface="Aptos"/>
              </a:rPr>
              <a:t>)</a:t>
            </a:r>
            <a:endParaRPr sz="96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496312"/>
            <a:ext cx="324612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30">
                <a:solidFill>
                  <a:srgbClr val="F5F8FC"/>
                </a:solidFill>
                <a:latin typeface="Aptos"/>
              </a:rPr>
              <a:t>Souverainete FR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1648" y="2496312"/>
            <a:ext cx="192024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 dirty="0">
                <a:solidFill>
                  <a:srgbClr val="FF6E6E"/>
                </a:solidFill>
                <a:latin typeface="Aptos"/>
              </a:rPr>
              <a:t>Non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0176" y="2496312"/>
            <a:ext cx="1874519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 dirty="0" err="1">
                <a:solidFill>
                  <a:srgbClr val="FFC34D"/>
                </a:solidFill>
                <a:latin typeface="Aptos"/>
              </a:rPr>
              <a:t>Partiel</a:t>
            </a:r>
            <a:endParaRPr sz="1030" b="1" dirty="0">
              <a:solidFill>
                <a:srgbClr val="FFC34D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72983" y="2496312"/>
            <a:ext cx="2880360" cy="384048"/>
          </a:xfrm>
          <a:prstGeom prst="roundRect">
            <a:avLst/>
          </a:prstGeom>
          <a:solidFill>
            <a:srgbClr val="12213C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960" b="1" dirty="0">
                <a:solidFill>
                  <a:srgbClr val="F5F8FC"/>
                </a:solidFill>
                <a:latin typeface="Aptos"/>
              </a:rPr>
              <a:t>Oui</a:t>
            </a:r>
            <a:r>
              <a:rPr lang="fr-FR" sz="960" b="1" dirty="0">
                <a:solidFill>
                  <a:srgbClr val="F5F8FC"/>
                </a:solidFill>
                <a:latin typeface="Aptos"/>
              </a:rPr>
              <a:t> (Hébergement en France)</a:t>
            </a:r>
            <a:endParaRPr sz="96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2898648"/>
            <a:ext cx="324612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30">
                <a:solidFill>
                  <a:srgbClr val="F5F8FC"/>
                </a:solidFill>
                <a:latin typeface="Aptos"/>
              </a:rPr>
              <a:t>API-first integrable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41648" y="2898648"/>
            <a:ext cx="192024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C34D"/>
                </a:solidFill>
                <a:latin typeface="Aptos"/>
              </a:rPr>
              <a:t>Partiel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0176" y="2898648"/>
            <a:ext cx="1874519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C34D"/>
                </a:solidFill>
                <a:latin typeface="Aptos"/>
              </a:rPr>
              <a:t>Partiel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72983" y="2898648"/>
            <a:ext cx="2880360" cy="384048"/>
          </a:xfrm>
          <a:prstGeom prst="roundRect">
            <a:avLst/>
          </a:prstGeom>
          <a:solidFill>
            <a:srgbClr val="12213C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960" b="1">
                <a:solidFill>
                  <a:srgbClr val="F5F8FC"/>
                </a:solidFill>
                <a:latin typeface="Aptos"/>
              </a:rPr>
              <a:t>Oui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300984"/>
            <a:ext cx="324612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30">
                <a:solidFill>
                  <a:srgbClr val="F5F8FC"/>
                </a:solidFill>
                <a:latin typeface="Aptos"/>
              </a:rPr>
              <a:t>Restitution RSSI/DSI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41648" y="3300984"/>
            <a:ext cx="192024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C34D"/>
                </a:solidFill>
                <a:latin typeface="Aptos"/>
              </a:rPr>
              <a:t>Partiel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0176" y="3300984"/>
            <a:ext cx="1874519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6E6E"/>
                </a:solidFill>
                <a:latin typeface="Aptos"/>
              </a:rPr>
              <a:t>Non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72983" y="3300984"/>
            <a:ext cx="2880360" cy="384048"/>
          </a:xfrm>
          <a:prstGeom prst="roundRect">
            <a:avLst/>
          </a:prstGeom>
          <a:solidFill>
            <a:srgbClr val="12213C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960" b="1">
                <a:solidFill>
                  <a:srgbClr val="F5F8FC"/>
                </a:solidFill>
                <a:latin typeface="Aptos"/>
              </a:rPr>
              <a:t>Oui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703320"/>
            <a:ext cx="324612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30">
                <a:solidFill>
                  <a:srgbClr val="F5F8FC"/>
                </a:solidFill>
                <a:latin typeface="Aptos"/>
              </a:rPr>
              <a:t>Prix PME-friendly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41648" y="3703320"/>
            <a:ext cx="192024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6E6E"/>
                </a:solidFill>
                <a:latin typeface="Aptos"/>
              </a:rPr>
              <a:t>Non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0176" y="3703320"/>
            <a:ext cx="1874519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C34D"/>
                </a:solidFill>
                <a:latin typeface="Aptos"/>
              </a:rPr>
              <a:t>Partiel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72983" y="3703320"/>
            <a:ext cx="2880360" cy="384048"/>
          </a:xfrm>
          <a:prstGeom prst="roundRect">
            <a:avLst/>
          </a:prstGeom>
          <a:solidFill>
            <a:srgbClr val="12213C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960" b="1">
                <a:solidFill>
                  <a:srgbClr val="F5F8FC"/>
                </a:solidFill>
                <a:latin typeface="Aptos"/>
              </a:rPr>
              <a:t>Oui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105656"/>
            <a:ext cx="324612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30">
                <a:solidFill>
                  <a:srgbClr val="F5F8FC"/>
                </a:solidFill>
                <a:latin typeface="Aptos"/>
              </a:rPr>
              <a:t>Audit-ready ISO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41648" y="4105656"/>
            <a:ext cx="192024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C34D"/>
                </a:solidFill>
                <a:latin typeface="Aptos"/>
              </a:rPr>
              <a:t>Partiel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0176" y="4105656"/>
            <a:ext cx="1874519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C34D"/>
                </a:solidFill>
                <a:latin typeface="Aptos"/>
              </a:rPr>
              <a:t>Partiel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72983" y="4105656"/>
            <a:ext cx="2880360" cy="384048"/>
          </a:xfrm>
          <a:prstGeom prst="roundRect">
            <a:avLst/>
          </a:prstGeom>
          <a:solidFill>
            <a:srgbClr val="12213C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960" b="1">
                <a:solidFill>
                  <a:srgbClr val="F5F8FC"/>
                </a:solidFill>
                <a:latin typeface="Aptos"/>
              </a:rPr>
              <a:t>Partiel - JSON + PDF executif aujourd hui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507992"/>
            <a:ext cx="324612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30">
                <a:solidFill>
                  <a:srgbClr val="F5F8FC"/>
                </a:solidFill>
                <a:latin typeface="Aptos"/>
              </a:rPr>
              <a:t>Connecteur sans credentials long-lived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41648" y="4507992"/>
            <a:ext cx="192024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6E6E"/>
                </a:solidFill>
                <a:latin typeface="Aptos"/>
              </a:rPr>
              <a:t>Non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80176" y="4507992"/>
            <a:ext cx="1874519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23BA5E"/>
                </a:solidFill>
                <a:latin typeface="Aptos"/>
              </a:rPr>
              <a:t>Oui natif/federation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72983" y="4507992"/>
            <a:ext cx="2880360" cy="384048"/>
          </a:xfrm>
          <a:prstGeom prst="roundRect">
            <a:avLst/>
          </a:prstGeom>
          <a:solidFill>
            <a:srgbClr val="12213C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960" b="1" dirty="0" err="1">
                <a:solidFill>
                  <a:srgbClr val="F5F8FC"/>
                </a:solidFill>
                <a:latin typeface="Aptos"/>
              </a:rPr>
              <a:t>Partiel</a:t>
            </a:r>
            <a:r>
              <a:rPr sz="960" b="1" dirty="0">
                <a:solidFill>
                  <a:srgbClr val="F5F8FC"/>
                </a:solidFill>
                <a:latin typeface="Aptos"/>
              </a:rPr>
              <a:t> </a:t>
            </a:r>
            <a:r>
              <a:rPr lang="fr-FR" sz="960" b="1" dirty="0">
                <a:solidFill>
                  <a:srgbClr val="F5F8FC"/>
                </a:solidFill>
                <a:latin typeface="Aptos"/>
              </a:rPr>
              <a:t>(</a:t>
            </a:r>
            <a:r>
              <a:rPr lang="fr-FR" sz="960" b="1" dirty="0" err="1">
                <a:solidFill>
                  <a:srgbClr val="F5F8FC"/>
                </a:solidFill>
                <a:latin typeface="Aptos"/>
              </a:rPr>
              <a:t>federation</a:t>
            </a:r>
            <a:r>
              <a:rPr lang="fr-FR" sz="960" b="1" dirty="0">
                <a:solidFill>
                  <a:srgbClr val="F5F8FC"/>
                </a:solidFill>
                <a:latin typeface="Aptos"/>
              </a:rPr>
              <a:t>) </a:t>
            </a:r>
            <a:r>
              <a:rPr sz="960" b="1" dirty="0">
                <a:solidFill>
                  <a:srgbClr val="F5F8FC"/>
                </a:solidFill>
                <a:latin typeface="Aptos"/>
              </a:rPr>
              <a:t>- pas de secret client stock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910328"/>
            <a:ext cx="324612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30">
                <a:solidFill>
                  <a:srgbClr val="F5F8FC"/>
                </a:solidFill>
                <a:latin typeface="Aptos"/>
              </a:rPr>
              <a:t>Pay-as-you-go a la requete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41648" y="4910328"/>
            <a:ext cx="1920240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6E6E"/>
                </a:solidFill>
                <a:latin typeface="Aptos"/>
              </a:rPr>
              <a:t>Non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0176" y="4910328"/>
            <a:ext cx="1874519" cy="384048"/>
          </a:xfrm>
          <a:prstGeom prst="roundRect">
            <a:avLst/>
          </a:prstGeom>
          <a:solidFill>
            <a:srgbClr val="0B1527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030" b="1">
                <a:solidFill>
                  <a:srgbClr val="FF6E6E"/>
                </a:solidFill>
                <a:latin typeface="Aptos"/>
              </a:rPr>
              <a:t>Non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72983" y="4910328"/>
            <a:ext cx="2880360" cy="384048"/>
          </a:xfrm>
          <a:prstGeom prst="roundRect">
            <a:avLst/>
          </a:prstGeom>
          <a:solidFill>
            <a:srgbClr val="12213C"/>
          </a:solidFill>
          <a:ln>
            <a:solidFill>
              <a:srgbClr val="25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960" b="1">
                <a:solidFill>
                  <a:srgbClr val="F5F8FC"/>
                </a:solidFill>
                <a:latin typeface="Aptos"/>
              </a:rPr>
              <a:t>Oui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650992"/>
            <a:ext cx="9738360" cy="658368"/>
          </a:xfrm>
          <a:prstGeom prst="roundRect">
            <a:avLst/>
          </a:prstGeom>
          <a:solidFill>
            <a:srgbClr val="0F1C34"/>
          </a:solidFill>
          <a:ln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rIns="203200" rtlCol="0" anchor="ctr"/>
          <a:lstStyle/>
          <a:p>
            <a:pPr algn="ctr"/>
            <a:r>
              <a:rPr sz="1250" b="1" dirty="0" err="1">
                <a:solidFill>
                  <a:srgbClr val="F5F8FC"/>
                </a:solidFill>
                <a:latin typeface="Aptos"/>
              </a:rPr>
              <a:t>Bevoac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ne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cherche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pas a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battre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un CNAPP sur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tous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les axes. Il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gagne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la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ou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le client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veut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une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brique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API-first,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souveraine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,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lisible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pour un RSSI/DSI et vendable a </a:t>
            </a:r>
            <a:r>
              <a:rPr sz="1250" b="1" dirty="0" err="1">
                <a:solidFill>
                  <a:srgbClr val="F5F8FC"/>
                </a:solidFill>
                <a:latin typeface="Aptos"/>
              </a:rPr>
              <a:t>cout</a:t>
            </a:r>
            <a:r>
              <a:rPr sz="1250" b="1" dirty="0">
                <a:solidFill>
                  <a:srgbClr val="F5F8FC"/>
                </a:solidFill>
                <a:latin typeface="Aptos"/>
              </a:rPr>
              <a:t> previsible.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41">
            <a:extLst>
              <a:ext uri="{FF2B5EF4-FFF2-40B4-BE49-F238E27FC236}">
                <a16:creationId xmlns:a16="http://schemas.microsoft.com/office/drawing/2014/main" id="{D151CEC3-04F4-9B06-178E-9C016AC25BC4}"/>
              </a:ext>
            </a:extLst>
          </p:cNvPr>
          <p:cNvSpPr/>
          <p:nvPr/>
        </p:nvSpPr>
        <p:spPr>
          <a:xfrm>
            <a:off x="822960" y="5987319"/>
            <a:ext cx="9326879" cy="502920"/>
          </a:xfrm>
          <a:prstGeom prst="roundRect">
            <a:avLst/>
          </a:prstGeom>
          <a:solidFill>
            <a:srgbClr val="FF7E00"/>
          </a:solidFill>
          <a:ln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rIns="203200" rtlCol="0" anchor="ctr"/>
          <a:lstStyle/>
          <a:p>
            <a:r>
              <a:rPr lang="fr-FR" sz="1250" b="1" dirty="0">
                <a:solidFill>
                  <a:srgbClr val="F5F8FC"/>
                </a:solidFill>
              </a:rPr>
              <a:t>Résultat ? Un cout d’entrée maitrisé, un abonnement lisible, un mode PAYG utile si besoin, et une </a:t>
            </a:r>
            <a:r>
              <a:rPr lang="fr-FR" sz="1250" b="1" dirty="0" err="1">
                <a:solidFill>
                  <a:srgbClr val="F5F8FC"/>
                </a:solidFill>
              </a:rPr>
              <a:t>cloture</a:t>
            </a:r>
            <a:r>
              <a:rPr lang="fr-FR" sz="1250" b="1" dirty="0">
                <a:solidFill>
                  <a:srgbClr val="F5F8FC"/>
                </a:solidFill>
              </a:rPr>
              <a:t> mensuelle propre pour l’exploitation.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5852160"/>
          </a:xfrm>
          <a:prstGeom prst="rect">
            <a:avLst/>
          </a:prstGeom>
          <a:solidFill>
            <a:srgbClr val="2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9784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5F8FC"/>
                </a:solidFill>
                <a:latin typeface="Aptos"/>
              </a:rPr>
              <a:t>Mod</a:t>
            </a:r>
            <a:r>
              <a:rPr lang="fr-FR" sz="2400" b="1" dirty="0" err="1">
                <a:solidFill>
                  <a:srgbClr val="F5F8FC"/>
                </a:solidFill>
                <a:latin typeface="Aptos"/>
              </a:rPr>
              <a:t>è</a:t>
            </a:r>
            <a:r>
              <a:rPr sz="2400" b="1" dirty="0">
                <a:solidFill>
                  <a:srgbClr val="F5F8FC"/>
                </a:solidFill>
                <a:latin typeface="Aptos"/>
              </a:rPr>
              <a:t>le </a:t>
            </a:r>
            <a:r>
              <a:rPr lang="fr-FR" sz="2400" b="1" dirty="0">
                <a:solidFill>
                  <a:srgbClr val="F5F8FC"/>
                </a:solidFill>
                <a:latin typeface="Aptos"/>
              </a:rPr>
              <a:t>é</a:t>
            </a:r>
            <a:r>
              <a:rPr sz="2400" b="1" dirty="0" err="1">
                <a:solidFill>
                  <a:srgbClr val="F5F8FC"/>
                </a:solidFill>
                <a:latin typeface="Aptos"/>
              </a:rPr>
              <a:t>conomique</a:t>
            </a:r>
            <a:r>
              <a:rPr sz="2400" b="1" dirty="0">
                <a:solidFill>
                  <a:srgbClr val="F5F8FC"/>
                </a:solidFill>
                <a:latin typeface="Aptos"/>
              </a:rPr>
              <a:t> simple, budget </a:t>
            </a:r>
            <a:r>
              <a:rPr sz="2400" b="1" dirty="0" err="1">
                <a:solidFill>
                  <a:srgbClr val="F5F8FC"/>
                </a:solidFill>
                <a:latin typeface="Aptos"/>
              </a:rPr>
              <a:t>lisible</a:t>
            </a:r>
            <a:r>
              <a:rPr sz="2400" b="1" dirty="0">
                <a:solidFill>
                  <a:srgbClr val="F5F8FC"/>
                </a:solidFill>
                <a:latin typeface="Aptos"/>
              </a:rPr>
              <a:t>, </a:t>
            </a:r>
            <a:r>
              <a:rPr sz="2400" b="1" dirty="0" err="1">
                <a:solidFill>
                  <a:srgbClr val="F5F8FC"/>
                </a:solidFill>
                <a:latin typeface="Aptos"/>
              </a:rPr>
              <a:t>facturation</a:t>
            </a:r>
            <a:r>
              <a:rPr sz="2400" b="1" dirty="0">
                <a:solidFill>
                  <a:srgbClr val="F5F8FC"/>
                </a:solidFill>
                <a:latin typeface="Aptos"/>
              </a:rPr>
              <a:t> exploitable.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9" y="1270724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AAB8CC"/>
                </a:solidFill>
                <a:latin typeface="Aptos"/>
              </a:rPr>
              <a:t>Le client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achete</a:t>
            </a:r>
            <a:r>
              <a:rPr sz="1100" dirty="0">
                <a:solidFill>
                  <a:srgbClr val="AAB8CC"/>
                </a:solidFill>
                <a:latin typeface="Aptos"/>
              </a:rPr>
              <a:t> un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demarrage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rapide</a:t>
            </a:r>
            <a:r>
              <a:rPr sz="1100" dirty="0">
                <a:solidFill>
                  <a:srgbClr val="AAB8CC"/>
                </a:solidFill>
                <a:latin typeface="Aptos"/>
              </a:rPr>
              <a:t>, un cadre de service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clair</a:t>
            </a:r>
            <a:r>
              <a:rPr sz="1100" dirty="0">
                <a:solidFill>
                  <a:srgbClr val="AAB8CC"/>
                </a:solidFill>
                <a:latin typeface="Aptos"/>
              </a:rPr>
              <a:t> et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une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facturation</a:t>
            </a:r>
            <a:r>
              <a:rPr sz="1100" dirty="0">
                <a:solidFill>
                  <a:srgbClr val="AAB8CC"/>
                </a:solidFill>
                <a:latin typeface="Aptos"/>
              </a:rPr>
              <a:t> beaucoup plus previsible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qu’une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logique</a:t>
            </a:r>
            <a:r>
              <a:rPr sz="1100" dirty="0">
                <a:solidFill>
                  <a:srgbClr val="AAB8CC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AAB8CC"/>
                </a:solidFill>
                <a:latin typeface="Aptos"/>
              </a:rPr>
              <a:t>purement</a:t>
            </a:r>
            <a:r>
              <a:rPr sz="1100" dirty="0">
                <a:solidFill>
                  <a:srgbClr val="AAB8CC"/>
                </a:solidFill>
                <a:latin typeface="Aptos"/>
              </a:rPr>
              <a:t> au workload.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48719"/>
            <a:ext cx="2788920" cy="411480"/>
          </a:xfrm>
          <a:prstGeom prst="roundRect">
            <a:avLst/>
          </a:prstGeom>
          <a:solidFill>
            <a:srgbClr val="8A5CFF"/>
          </a:solidFill>
          <a:ln>
            <a:solidFill>
              <a:srgbClr val="8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Starter Pack - 990 EUR HT one-shot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51639"/>
            <a:ext cx="2834640" cy="1325880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Ce que couvre le demarrage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Onboarding securise, coffre-fort, audit de reference, session avec ingenieur et livrable immediat.</a:t>
            </a:r>
          </a:p>
        </p:txBody>
      </p:sp>
      <p:sp>
        <p:nvSpPr>
          <p:cNvPr id="8" name="Oval 7"/>
          <p:cNvSpPr/>
          <p:nvPr/>
        </p:nvSpPr>
        <p:spPr>
          <a:xfrm>
            <a:off x="969264" y="2588799"/>
            <a:ext cx="146304" cy="146304"/>
          </a:xfrm>
          <a:prstGeom prst="ellipse">
            <a:avLst/>
          </a:prstGeom>
          <a:solidFill>
            <a:srgbClr val="2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31919" y="2095023"/>
            <a:ext cx="1920240" cy="1691640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Standard - 89 EUR HT / mois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2 500 unites / mois
Rythme mensuel ou hebdo light
PAYG : 0,10 EUR / unite</a:t>
            </a:r>
          </a:p>
        </p:txBody>
      </p:sp>
      <p:sp>
        <p:nvSpPr>
          <p:cNvPr id="10" name="Oval 9"/>
          <p:cNvSpPr/>
          <p:nvPr/>
        </p:nvSpPr>
        <p:spPr>
          <a:xfrm>
            <a:off x="4078223" y="2232183"/>
            <a:ext cx="146304" cy="146304"/>
          </a:xfrm>
          <a:prstGeom prst="ellipse">
            <a:avLst/>
          </a:prstGeom>
          <a:solidFill>
            <a:srgbClr val="2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80760" y="2095023"/>
            <a:ext cx="1920240" cy="1691640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23B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Business - 149 EUR HT / mois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10 000 unites / mois
Multi-comptes / multi-clients
PAYG : 0,08 EUR / unite</a:t>
            </a:r>
          </a:p>
        </p:txBody>
      </p:sp>
      <p:sp>
        <p:nvSpPr>
          <p:cNvPr id="12" name="Oval 11"/>
          <p:cNvSpPr/>
          <p:nvPr/>
        </p:nvSpPr>
        <p:spPr>
          <a:xfrm>
            <a:off x="6227064" y="2232183"/>
            <a:ext cx="146304" cy="146304"/>
          </a:xfrm>
          <a:prstGeom prst="ellipse">
            <a:avLst/>
          </a:prstGeom>
          <a:solidFill>
            <a:srgbClr val="23B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2095023"/>
            <a:ext cx="1874519" cy="1691640"/>
          </a:xfrm>
          <a:prstGeom prst="roundRect">
            <a:avLst/>
          </a:prstGeom>
          <a:solidFill>
            <a:srgbClr val="0B1527"/>
          </a:solidFill>
          <a:ln w="17780">
            <a:solidFill>
              <a:srgbClr val="8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Pay-as-you-go</a:t>
            </a:r>
          </a:p>
          <a:p>
            <a:pPr algn="l"/>
            <a:r>
              <a:rPr sz="1100">
                <a:solidFill>
                  <a:srgbClr val="AAB8CC"/>
                </a:solidFill>
                <a:latin typeface="Aptos"/>
              </a:rPr>
              <a:t>POC, audit ponctuel, incident, M&amp;A ou depassement. Facturation a la requete selon les unites consommees.</a:t>
            </a:r>
          </a:p>
        </p:txBody>
      </p:sp>
      <p:sp>
        <p:nvSpPr>
          <p:cNvPr id="14" name="Oval 13"/>
          <p:cNvSpPr/>
          <p:nvPr/>
        </p:nvSpPr>
        <p:spPr>
          <a:xfrm>
            <a:off x="8375904" y="2232183"/>
            <a:ext cx="146304" cy="146304"/>
          </a:xfrm>
          <a:prstGeom prst="ellipse">
            <a:avLst/>
          </a:prstGeom>
          <a:solidFill>
            <a:srgbClr val="8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" y="4079271"/>
            <a:ext cx="4754880" cy="1645920"/>
          </a:xfrm>
          <a:prstGeom prst="roundRect">
            <a:avLst/>
          </a:prstGeom>
          <a:solidFill>
            <a:srgbClr val="0B1527"/>
          </a:solidFill>
          <a:ln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rIns="20320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Comment les unites sont calculees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AAB8CC"/>
                </a:solidFill>
                <a:latin typeface="Aptos"/>
              </a:rPr>
              <a:t>web ou entra = 1 unite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AAB8CC"/>
                </a:solidFill>
                <a:latin typeface="Aptos"/>
              </a:rPr>
              <a:t>infra ou full = nombre de subscriptions ciblees, minimum 1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=&gt; Le budget suit le volume de controles, pas le nombre d’actifs cloud visibles.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4079271"/>
            <a:ext cx="4251960" cy="1645920"/>
          </a:xfrm>
          <a:prstGeom prst="roundRect">
            <a:avLst/>
          </a:prstGeom>
          <a:solidFill>
            <a:srgbClr val="0F1C34"/>
          </a:solidFill>
          <a:ln>
            <a:solidFill>
              <a:srgbClr val="23B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rIns="203200" rtlCol="0" anchor="ctr"/>
          <a:lstStyle/>
          <a:p>
            <a:pPr algn="ctr">
              <a:spcAft>
                <a:spcPts val="200"/>
              </a:spcAft>
            </a:pPr>
            <a:r>
              <a:rPr sz="1300" b="1" dirty="0">
                <a:solidFill>
                  <a:srgbClr val="F5F8FC"/>
                </a:solidFill>
                <a:latin typeface="Aptos"/>
              </a:rPr>
              <a:t>Comment la </a:t>
            </a:r>
            <a:r>
              <a:rPr sz="1300" b="1" dirty="0" err="1">
                <a:solidFill>
                  <a:srgbClr val="F5F8FC"/>
                </a:solidFill>
                <a:latin typeface="Aptos"/>
              </a:rPr>
              <a:t>facturation</a:t>
            </a:r>
            <a:r>
              <a:rPr sz="1300" b="1" dirty="0">
                <a:solidFill>
                  <a:srgbClr val="F5F8FC"/>
                </a:solidFill>
                <a:latin typeface="Aptos"/>
              </a:rPr>
              <a:t> se </a:t>
            </a:r>
            <a:r>
              <a:rPr sz="1300" b="1" dirty="0" err="1">
                <a:solidFill>
                  <a:srgbClr val="F5F8FC"/>
                </a:solidFill>
                <a:latin typeface="Aptos"/>
              </a:rPr>
              <a:t>tient</a:t>
            </a:r>
            <a:endParaRPr sz="1300" b="1" dirty="0">
              <a:solidFill>
                <a:srgbClr val="F5F8FC"/>
              </a:solidFill>
              <a:latin typeface="Aptos"/>
            </a:endParaRPr>
          </a:p>
          <a:p>
            <a:pPr>
              <a:spcAft>
                <a:spcPts val="200"/>
              </a:spcAft>
            </a:pPr>
            <a:r>
              <a:rPr sz="1120" b="0" dirty="0">
                <a:solidFill>
                  <a:srgbClr val="AAB8CC"/>
                </a:solidFill>
                <a:latin typeface="Aptos"/>
              </a:rPr>
              <a:t>A </a:t>
            </a:r>
            <a:r>
              <a:rPr sz="1120" b="0" dirty="0" err="1">
                <a:solidFill>
                  <a:srgbClr val="AAB8CC"/>
                </a:solidFill>
                <a:latin typeface="Aptos"/>
              </a:rPr>
              <a:t>chaque</a:t>
            </a:r>
            <a:r>
              <a:rPr sz="1120" b="0" dirty="0">
                <a:solidFill>
                  <a:srgbClr val="AAB8CC"/>
                </a:solidFill>
                <a:latin typeface="Aptos"/>
              </a:rPr>
              <a:t> scan : </a:t>
            </a:r>
            <a:r>
              <a:rPr sz="1120" b="0" dirty="0" err="1">
                <a:solidFill>
                  <a:srgbClr val="AAB8CC"/>
                </a:solidFill>
                <a:latin typeface="Aptos"/>
              </a:rPr>
              <a:t>ecriture</a:t>
            </a:r>
            <a:r>
              <a:rPr sz="1120" b="0" dirty="0">
                <a:solidFill>
                  <a:srgbClr val="AAB8CC"/>
                </a:solidFill>
                <a:latin typeface="Aptos"/>
              </a:rPr>
              <a:t> dans le ledger</a:t>
            </a:r>
            <a:r>
              <a:rPr lang="fr-FR" sz="1120" b="0" dirty="0">
                <a:solidFill>
                  <a:srgbClr val="AAB8CC"/>
                </a:solidFill>
                <a:latin typeface="Aptos"/>
              </a:rPr>
              <a:t> (historique)</a:t>
            </a:r>
            <a:r>
              <a:rPr sz="1120" b="0" dirty="0">
                <a:solidFill>
                  <a:srgbClr val="AAB8CC"/>
                </a:solidFill>
                <a:latin typeface="Aptos"/>
              </a:rPr>
              <a:t> et mise a jour du snapshot </a:t>
            </a:r>
            <a:r>
              <a:rPr sz="1120" b="0" dirty="0" err="1">
                <a:solidFill>
                  <a:srgbClr val="AAB8CC"/>
                </a:solidFill>
                <a:latin typeface="Aptos"/>
              </a:rPr>
              <a:t>mensuel</a:t>
            </a:r>
            <a:r>
              <a:rPr sz="1120" b="0" dirty="0">
                <a:solidFill>
                  <a:srgbClr val="AAB8CC"/>
                </a:solidFill>
                <a:latin typeface="Aptos"/>
              </a:rPr>
              <a:t>.</a:t>
            </a:r>
          </a:p>
          <a:p>
            <a:pPr>
              <a:spcAft>
                <a:spcPts val="200"/>
              </a:spcAft>
            </a:pPr>
            <a:r>
              <a:rPr sz="1120" b="0" dirty="0">
                <a:solidFill>
                  <a:srgbClr val="AAB8CC"/>
                </a:solidFill>
                <a:latin typeface="Aptos"/>
              </a:rPr>
              <a:t>Le client lit /v1/billing/overview ; </a:t>
            </a:r>
            <a:r>
              <a:rPr sz="1120" b="0" dirty="0" err="1">
                <a:solidFill>
                  <a:srgbClr val="AAB8CC"/>
                </a:solidFill>
                <a:latin typeface="Aptos"/>
              </a:rPr>
              <a:t>l’admin</a:t>
            </a:r>
            <a:r>
              <a:rPr sz="1120" b="0" dirty="0">
                <a:solidFill>
                  <a:srgbClr val="AAB8CC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AAB8CC"/>
                </a:solidFill>
                <a:latin typeface="Aptos"/>
              </a:rPr>
              <a:t>peut</a:t>
            </a:r>
            <a:r>
              <a:rPr sz="1120" b="0" dirty="0">
                <a:solidFill>
                  <a:srgbClr val="AAB8CC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AAB8CC"/>
                </a:solidFill>
                <a:latin typeface="Aptos"/>
              </a:rPr>
              <a:t>cloturer</a:t>
            </a:r>
            <a:r>
              <a:rPr sz="1120" b="0" dirty="0">
                <a:solidFill>
                  <a:srgbClr val="AAB8CC"/>
                </a:solidFill>
                <a:latin typeface="Aptos"/>
              </a:rPr>
              <a:t> le </a:t>
            </a:r>
            <a:r>
              <a:rPr sz="1120" b="0" dirty="0" err="1">
                <a:solidFill>
                  <a:srgbClr val="AAB8CC"/>
                </a:solidFill>
                <a:latin typeface="Aptos"/>
              </a:rPr>
              <a:t>mois</a:t>
            </a:r>
            <a:r>
              <a:rPr sz="1120" b="0" dirty="0">
                <a:solidFill>
                  <a:srgbClr val="AAB8CC"/>
                </a:solidFill>
                <a:latin typeface="Aptos"/>
              </a:rPr>
              <a:t> via /v1/admin/billing/close-month.</a:t>
            </a:r>
          </a:p>
          <a:p>
            <a:pPr>
              <a:spcAft>
                <a:spcPts val="200"/>
              </a:spcAft>
            </a:pPr>
            <a:r>
              <a:rPr sz="1120" b="1" dirty="0">
                <a:solidFill>
                  <a:srgbClr val="F5F8FC"/>
                </a:solidFill>
                <a:latin typeface="Aptos"/>
              </a:rPr>
              <a:t>=&gt; lecture </a:t>
            </a:r>
            <a:r>
              <a:rPr sz="1120" b="1" dirty="0" err="1">
                <a:solidFill>
                  <a:srgbClr val="F5F8FC"/>
                </a:solidFill>
                <a:latin typeface="Aptos"/>
              </a:rPr>
              <a:t>claire</a:t>
            </a:r>
            <a:r>
              <a:rPr sz="1120" b="1" dirty="0">
                <a:solidFill>
                  <a:srgbClr val="F5F8FC"/>
                </a:solidFill>
                <a:latin typeface="Aptos"/>
              </a:rPr>
              <a:t>, </a:t>
            </a:r>
            <a:r>
              <a:rPr lang="fr-FR" sz="1120" b="1" dirty="0">
                <a:solidFill>
                  <a:srgbClr val="F5F8FC"/>
                </a:solidFill>
                <a:latin typeface="Aptos"/>
              </a:rPr>
              <a:t>trace de </a:t>
            </a:r>
            <a:r>
              <a:rPr sz="1120" b="1" dirty="0">
                <a:solidFill>
                  <a:srgbClr val="F5F8FC"/>
                </a:solidFill>
                <a:latin typeface="Aptos"/>
              </a:rPr>
              <a:t>d</a:t>
            </a:r>
            <a:r>
              <a:rPr lang="fr-FR" sz="1120" b="1" dirty="0" err="1">
                <a:solidFill>
                  <a:srgbClr val="F5F8FC"/>
                </a:solidFill>
                <a:latin typeface="Aptos"/>
              </a:rPr>
              <a:t>é</a:t>
            </a:r>
            <a:r>
              <a:rPr sz="1120" b="1" dirty="0">
                <a:solidFill>
                  <a:srgbClr val="F5F8FC"/>
                </a:solidFill>
                <a:latin typeface="Aptos"/>
              </a:rPr>
              <a:t>passement, facture </a:t>
            </a:r>
            <a:r>
              <a:rPr sz="1120" b="1" dirty="0" err="1">
                <a:solidFill>
                  <a:srgbClr val="F5F8FC"/>
                </a:solidFill>
                <a:latin typeface="Aptos"/>
              </a:rPr>
              <a:t>figée</a:t>
            </a:r>
            <a:r>
              <a:rPr sz="1120" b="1" dirty="0">
                <a:solidFill>
                  <a:srgbClr val="F5F8FC"/>
                </a:solidFill>
                <a:latin typeface="Aptos"/>
              </a:rPr>
              <a:t> </a:t>
            </a:r>
            <a:r>
              <a:rPr sz="1120" b="1" dirty="0" err="1">
                <a:solidFill>
                  <a:srgbClr val="F5F8FC"/>
                </a:solidFill>
                <a:latin typeface="Aptos"/>
              </a:rPr>
              <a:t>quand</a:t>
            </a:r>
            <a:r>
              <a:rPr sz="1120" b="1" dirty="0">
                <a:solidFill>
                  <a:srgbClr val="F5F8FC"/>
                </a:solidFill>
                <a:latin typeface="Aptos"/>
              </a:rPr>
              <a:t> le </a:t>
            </a:r>
            <a:r>
              <a:rPr sz="1120" b="1" dirty="0" err="1">
                <a:solidFill>
                  <a:srgbClr val="F5F8FC"/>
                </a:solidFill>
                <a:latin typeface="Aptos"/>
              </a:rPr>
              <a:t>mois</a:t>
            </a:r>
            <a:r>
              <a:rPr sz="1120" b="1" dirty="0">
                <a:solidFill>
                  <a:srgbClr val="F5F8FC"/>
                </a:solidFill>
                <a:latin typeface="Aptos"/>
              </a:rPr>
              <a:t> est clos.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41248" y="2407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C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résumé :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841248" y="2755392"/>
            <a:ext cx="5806440" cy="1499616"/>
          </a:xfrm>
          <a:prstGeom prst="rect">
            <a:avLst/>
          </a:prstGeom>
          <a:noFill/>
          <a:ln/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Bevoac est la brique</a:t>
            </a:r>
            <a:endParaRPr lang="en-US" sz="2550" dirty="0"/>
          </a:p>
          <a:p>
            <a:pPr marL="0" indent="0">
              <a:buNone/>
            </a:pPr>
            <a:r>
              <a:rPr lang="en-US" sz="255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 permet d’industrialiser</a:t>
            </a:r>
            <a:endParaRPr lang="en-US" sz="2550" dirty="0"/>
          </a:p>
          <a:p>
            <a:pPr marL="0" indent="0">
              <a:buNone/>
            </a:pPr>
            <a:r>
              <a:rPr lang="en-US" sz="255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</a:t>
            </a:r>
            <a:r>
              <a:rPr lang="en-US" sz="2550" b="1" dirty="0">
                <a:solidFill>
                  <a:srgbClr val="FF64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sécurité en API</a:t>
            </a:r>
            <a:r>
              <a:rPr lang="en-US" sz="255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5728498" y="2609088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911378" y="25450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— pour recontrôler au bon rythme.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28498" y="3048000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911378" y="29839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Exploitable — pour intégrer des résultats réellement utiles.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28498" y="3486912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911378" y="3422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Traçable — pour prouver ce qui a été vu et quand.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28498" y="3925824"/>
            <a:ext cx="100584" cy="100584"/>
          </a:xfrm>
          <a:prstGeom prst="ellipse">
            <a:avLst/>
          </a:prstGeom>
          <a:solidFill>
            <a:srgbClr val="21C6FF"/>
          </a:solidFill>
          <a:ln w="12700">
            <a:solidFill>
              <a:srgbClr val="21C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911378" y="38618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Crédible — pour rassurer un client, un partenaire ou un RSSI.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3790" y="49956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Passez d’un audit ponctuel à un service d’audit API pilotable, structuré et prêt pour la croissance.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0A4C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4"/>
          </a:solidFill>
          <a:ln>
            <a:solidFill>
              <a:srgbClr val="08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A1428"/>
          </a:solidFill>
          <a:ln>
            <a:solidFill>
              <a:srgbClr val="0A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7680" y="514350"/>
            <a:ext cx="97536" cy="5486400"/>
          </a:xfrm>
          <a:prstGeom prst="rect">
            <a:avLst/>
          </a:prstGeom>
          <a:solidFill>
            <a:srgbClr val="21C6FF"/>
          </a:solidFill>
          <a:ln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2480" y="4800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Démo live : déroulé des phases de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925830"/>
            <a:ext cx="102412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5E6"/>
                </a:solidFill>
                <a:latin typeface="Aptos"/>
              </a:rPr>
              <a:t>Montrer la chaîne complète en conditions réelles : readiness, onboarding sécurisé, scope autorisé, scan, billing et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" y="1508760"/>
            <a:ext cx="5486400" cy="4320540"/>
          </a:xfrm>
          <a:prstGeom prst="roundRect">
            <a:avLst/>
          </a:prstGeom>
          <a:solidFill>
            <a:srgbClr val="0B1527"/>
          </a:solidFill>
          <a:ln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8240" y="1680210"/>
            <a:ext cx="42672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C6FF"/>
                </a:solidFill>
                <a:latin typeface="Aptos"/>
              </a:rPr>
              <a:t>PHASES DE DÉMONSTRATION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194560"/>
            <a:ext cx="670560" cy="377190"/>
          </a:xfrm>
          <a:prstGeom prst="roundRect">
            <a:avLst/>
          </a:prstGeom>
          <a:solidFill>
            <a:srgbClr val="8A5CFF"/>
          </a:solidFill>
          <a:ln>
            <a:solidFill>
              <a:srgbClr val="8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760" y="2173986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Readiness et santé de la plateforme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9760" y="241401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5E6"/>
                </a:solidFill>
                <a:latin typeface="Aptos"/>
              </a:rPr>
              <a:t>Vérifier que l’environnement est prêt, que l’API répond et que le socle de démonstration est opérationnel.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154680"/>
            <a:ext cx="670560" cy="377190"/>
          </a:xfrm>
          <a:prstGeom prst="roundRect">
            <a:avLst/>
          </a:prstGeom>
          <a:solidFill>
            <a:srgbClr val="21C6FF"/>
          </a:solidFill>
          <a:ln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9760" y="3134106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Onboarding Azure sécurisé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9760" y="33741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5E6"/>
                </a:solidFill>
                <a:latin typeface="Aptos"/>
              </a:rPr>
              <a:t>Créer une session, ouvrir le frontend, faire le consentement Microsoft, puis valider l’accès Reader et le scope autorisé.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114800"/>
            <a:ext cx="670560" cy="377190"/>
          </a:xfrm>
          <a:prstGeom prst="roundRect">
            <a:avLst/>
          </a:prstGeom>
          <a:solidFill>
            <a:srgbClr val="23BA5E"/>
          </a:solidFill>
          <a:ln>
            <a:solidFill>
              <a:srgbClr val="23B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9760" y="4094226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Scan et restitution immédiate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9760" y="433425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5E6"/>
                </a:solidFill>
                <a:latin typeface="Aptos"/>
              </a:rPr>
              <a:t>Lancer un scan web puis un scan Azure avec authorizedScopeId, suivre le statut et afficher les résultats structurés.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074920"/>
            <a:ext cx="670560" cy="377190"/>
          </a:xfrm>
          <a:prstGeom prst="roundRect">
            <a:avLst/>
          </a:prstGeom>
          <a:solidFill>
            <a:srgbClr val="21C6FF"/>
          </a:solidFill>
          <a:ln>
            <a:solidFill>
              <a:srgbClr val="21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9760" y="5054346"/>
            <a:ext cx="377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Preuve métier et facturation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9760" y="529437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5E6"/>
                </a:solidFill>
                <a:latin typeface="Aptos"/>
              </a:rPr>
              <a:t>Montrer billing overview, la logique Standard / Business / PAYG, puis générer le PDF exécutif du scan.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27520" y="1303020"/>
            <a:ext cx="4389120" cy="5413466"/>
          </a:xfrm>
          <a:prstGeom prst="roundRect">
            <a:avLst/>
          </a:prstGeom>
          <a:solidFill>
            <a:srgbClr val="0F1C34"/>
          </a:solidFill>
          <a:ln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71360" y="1484539"/>
            <a:ext cx="30480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23BA5E"/>
                </a:solidFill>
                <a:latin typeface="Aptos"/>
              </a:rPr>
              <a:t>URLS DE DÉMONSTRATION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1360" y="1797721"/>
            <a:ext cx="146304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FD7EA"/>
                </a:solidFill>
                <a:latin typeface="Aptos"/>
              </a:rPr>
              <a:t>FRONTEND ONBOARDING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1360" y="2027681"/>
            <a:ext cx="3901440" cy="342900"/>
          </a:xfrm>
          <a:prstGeom prst="roundRect">
            <a:avLst/>
          </a:prstGeom>
          <a:solidFill>
            <a:srgbClr val="0A1428"/>
          </a:solidFill>
          <a:ln>
            <a:solidFill>
              <a:srgbClr val="223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68896" y="2075687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F8FF"/>
                </a:solidFill>
                <a:latin typeface="Courier New"/>
              </a:rPr>
              <a:t>https://stbevoacdevfront.z28.web.core.windows.net/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1360" y="2370581"/>
            <a:ext cx="146304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8FD7EA"/>
                </a:solidFill>
                <a:latin typeface="Aptos"/>
              </a:rPr>
              <a:t>HEALTH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71360" y="2590962"/>
            <a:ext cx="3901440" cy="342900"/>
          </a:xfrm>
          <a:prstGeom prst="roundRect">
            <a:avLst/>
          </a:prstGeom>
          <a:solidFill>
            <a:srgbClr val="0A1428"/>
          </a:solidFill>
          <a:ln>
            <a:solidFill>
              <a:srgbClr val="223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68896" y="2638968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F8FF"/>
                </a:solidFill>
                <a:latin typeface="Courier New"/>
              </a:rPr>
              <a:t>https://&lt;api_fqdn&gt;/v1/health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1360" y="2938107"/>
            <a:ext cx="146304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8FD7EA"/>
                </a:solidFill>
                <a:latin typeface="Aptos"/>
              </a:rPr>
              <a:t>CRÉER LA SESSION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71360" y="3160067"/>
            <a:ext cx="3901440" cy="342900"/>
          </a:xfrm>
          <a:prstGeom prst="roundRect">
            <a:avLst/>
          </a:prstGeom>
          <a:solidFill>
            <a:srgbClr val="0A1428"/>
          </a:solidFill>
          <a:ln>
            <a:solidFill>
              <a:srgbClr val="223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68896" y="3208073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F8FF"/>
                </a:solidFill>
                <a:latin typeface="Courier New"/>
              </a:rPr>
              <a:t>POST https://&lt;api_fqdn&gt;/v1/onboarding/azure/sessions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1360" y="3509825"/>
            <a:ext cx="146304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8FD7EA"/>
                </a:solidFill>
                <a:latin typeface="Aptos"/>
              </a:rPr>
              <a:t>STATUT ONBOARDING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71360" y="3751405"/>
            <a:ext cx="3901440" cy="342900"/>
          </a:xfrm>
          <a:prstGeom prst="roundRect">
            <a:avLst/>
          </a:prstGeom>
          <a:solidFill>
            <a:srgbClr val="0A1428"/>
          </a:solidFill>
          <a:ln>
            <a:solidFill>
              <a:srgbClr val="223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68896" y="3742997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F4F8FF"/>
                </a:solidFill>
                <a:latin typeface="Courier New"/>
              </a:rPr>
              <a:t>GET https://&lt;</a:t>
            </a:r>
            <a:r>
              <a:rPr sz="850" b="0" i="0" dirty="0" err="1">
                <a:solidFill>
                  <a:srgbClr val="F4F8FF"/>
                </a:solidFill>
                <a:latin typeface="Courier New"/>
              </a:rPr>
              <a:t>api_fqdn</a:t>
            </a:r>
            <a:r>
              <a:rPr sz="850" b="0" i="0" dirty="0">
                <a:solidFill>
                  <a:srgbClr val="F4F8FF"/>
                </a:solidFill>
                <a:latin typeface="Courier New"/>
              </a:rPr>
              <a:t>&gt;/v1/onboarding/public/azure-sessions/:</a:t>
            </a:r>
            <a:r>
              <a:rPr sz="850" b="0" i="0" dirty="0" err="1">
                <a:solidFill>
                  <a:srgbClr val="F4F8FF"/>
                </a:solidFill>
                <a:latin typeface="Courier New"/>
              </a:rPr>
              <a:t>sessionToken</a:t>
            </a:r>
            <a:r>
              <a:rPr sz="850" b="0" i="0" dirty="0">
                <a:solidFill>
                  <a:srgbClr val="F4F8FF"/>
                </a:solidFill>
                <a:latin typeface="Courier New"/>
              </a:rPr>
              <a:t>/status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71360" y="4104786"/>
            <a:ext cx="146304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FD7EA"/>
                </a:solidFill>
                <a:latin typeface="Aptos"/>
              </a:rPr>
              <a:t>SCOPES AUTORISÉS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71360" y="4301652"/>
            <a:ext cx="3901440" cy="342900"/>
          </a:xfrm>
          <a:prstGeom prst="roundRect">
            <a:avLst/>
          </a:prstGeom>
          <a:solidFill>
            <a:srgbClr val="0A1428"/>
          </a:solidFill>
          <a:ln>
            <a:solidFill>
              <a:srgbClr val="223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68896" y="4349658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F8FF"/>
                </a:solidFill>
                <a:latin typeface="Courier New"/>
              </a:rPr>
              <a:t>GET https://&lt;api_fqdn&gt;/v1/onboarding/azure/scopes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1360" y="4643629"/>
            <a:ext cx="146304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8FD7EA"/>
                </a:solidFill>
                <a:latin typeface="Aptos"/>
              </a:rPr>
              <a:t>SCAN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71360" y="4847678"/>
            <a:ext cx="3901440" cy="342900"/>
          </a:xfrm>
          <a:prstGeom prst="roundRect">
            <a:avLst/>
          </a:prstGeom>
          <a:solidFill>
            <a:srgbClr val="0A1428"/>
          </a:solidFill>
          <a:ln>
            <a:solidFill>
              <a:srgbClr val="223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68896" y="4895684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F8FF"/>
                </a:solidFill>
                <a:latin typeface="Courier New"/>
              </a:rPr>
              <a:t>POST https://&lt;api_fqdn&gt;/v1/scans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71360" y="5190578"/>
            <a:ext cx="146304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8FD7EA"/>
                </a:solidFill>
                <a:latin typeface="Aptos"/>
              </a:rPr>
              <a:t>BILLING OVERVIEW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71360" y="5413192"/>
            <a:ext cx="3901440" cy="342900"/>
          </a:xfrm>
          <a:prstGeom prst="roundRect">
            <a:avLst/>
          </a:prstGeom>
          <a:solidFill>
            <a:srgbClr val="0A1428"/>
          </a:solidFill>
          <a:ln>
            <a:solidFill>
              <a:srgbClr val="223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68896" y="5461198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F8FF"/>
                </a:solidFill>
                <a:latin typeface="Courier New"/>
              </a:rPr>
              <a:t>GET https://&lt;api_fqdn&gt;/v1/billing/overview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1360" y="5756092"/>
            <a:ext cx="1463040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8FD7EA"/>
                </a:solidFill>
                <a:latin typeface="Aptos"/>
              </a:rPr>
              <a:t>PDF EXÉCUTIF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71360" y="5968689"/>
            <a:ext cx="3901440" cy="342900"/>
          </a:xfrm>
          <a:prstGeom prst="roundRect">
            <a:avLst/>
          </a:prstGeom>
          <a:solidFill>
            <a:srgbClr val="0A1428"/>
          </a:solidFill>
          <a:ln>
            <a:solidFill>
              <a:srgbClr val="223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68896" y="6016695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F8FF"/>
                </a:solidFill>
                <a:latin typeface="Courier New"/>
              </a:rPr>
              <a:t>GET https://&lt;api_fqdn&gt;/v1/scans/{scanId}/pdf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B2DD179-761C-A776-69A1-65A42DF28AE2}"/>
              </a:ext>
            </a:extLst>
          </p:cNvPr>
          <p:cNvSpPr/>
          <p:nvPr/>
        </p:nvSpPr>
        <p:spPr>
          <a:xfrm>
            <a:off x="4981085" y="2679192"/>
            <a:ext cx="2229830" cy="1499616"/>
          </a:xfrm>
          <a:prstGeom prst="rect">
            <a:avLst/>
          </a:prstGeom>
          <a:noFill/>
          <a:ln/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F8FF"/>
                </a:solidFill>
                <a:latin typeface="Aptos Display" pitchFamily="34" charset="0"/>
              </a:rPr>
              <a:t>MERCI !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852036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2121</Words>
  <Application>Microsoft Macintosh PowerPoint</Application>
  <PresentationFormat>Grand écran</PresentationFormat>
  <Paragraphs>271</Paragraphs>
  <Slides>14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Bevoac — pitch commercial tech moderne</dc:title>
  <dc:subject>Bevoac pitch commercial client</dc:subject>
  <dc:creator>OpenAI</dc:creator>
  <cp:lastModifiedBy>LE GALLIC Fabrice</cp:lastModifiedBy>
  <cp:revision>68</cp:revision>
  <dcterms:created xsi:type="dcterms:W3CDTF">2026-04-21T22:00:15Z</dcterms:created>
  <dcterms:modified xsi:type="dcterms:W3CDTF">2026-04-23T15:58:57Z</dcterms:modified>
</cp:coreProperties>
</file>